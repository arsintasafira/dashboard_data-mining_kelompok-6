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Inter Bold" charset="1" panose="02000503000000020004"/>
      <p:regular r:id="rId18"/>
    </p:embeddedFont>
    <p:embeddedFont>
      <p:font typeface="Inter" charset="1" panose="02000503000000020004"/>
      <p:regular r:id="rId19"/>
    </p:embeddedFont>
    <p:embeddedFont>
      <p:font typeface="Livvic Bold"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sp>
        <p:nvSpPr>
          <p:cNvPr name="Freeform 2" id="2"/>
          <p:cNvSpPr/>
          <p:nvPr/>
        </p:nvSpPr>
        <p:spPr>
          <a:xfrm flipH="false" flipV="false" rot="0">
            <a:off x="9762325" y="6348362"/>
            <a:ext cx="698599" cy="698599"/>
          </a:xfrm>
          <a:custGeom>
            <a:avLst/>
            <a:gdLst/>
            <a:ahLst/>
            <a:cxnLst/>
            <a:rect r="r" b="b" t="t" l="l"/>
            <a:pathLst>
              <a:path h="698599" w="698599">
                <a:moveTo>
                  <a:pt x="0" y="0"/>
                </a:moveTo>
                <a:lnTo>
                  <a:pt x="698599" y="0"/>
                </a:lnTo>
                <a:lnTo>
                  <a:pt x="698599" y="698599"/>
                </a:lnTo>
                <a:lnTo>
                  <a:pt x="0" y="69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2959" y="-1157459"/>
            <a:ext cx="18970959" cy="11809557"/>
          </a:xfrm>
          <a:custGeom>
            <a:avLst/>
            <a:gdLst/>
            <a:ahLst/>
            <a:cxnLst/>
            <a:rect r="r" b="b" t="t" l="l"/>
            <a:pathLst>
              <a:path h="11809557" w="18970959">
                <a:moveTo>
                  <a:pt x="0" y="0"/>
                </a:moveTo>
                <a:lnTo>
                  <a:pt x="18970959" y="0"/>
                </a:lnTo>
                <a:lnTo>
                  <a:pt x="18970959" y="11809557"/>
                </a:lnTo>
                <a:lnTo>
                  <a:pt x="0" y="11809557"/>
                </a:lnTo>
                <a:lnTo>
                  <a:pt x="0" y="0"/>
                </a:lnTo>
                <a:close/>
              </a:path>
            </a:pathLst>
          </a:custGeom>
          <a:blipFill>
            <a:blip r:embed="rId4">
              <a:alphaModFix amt="43000"/>
            </a:blip>
            <a:stretch>
              <a:fillRect l="0" t="0" r="0" b="0"/>
            </a:stretch>
          </a:blipFill>
        </p:spPr>
      </p:sp>
      <p:sp>
        <p:nvSpPr>
          <p:cNvPr name="TextBox 4" id="4"/>
          <p:cNvSpPr txBox="true"/>
          <p:nvPr/>
        </p:nvSpPr>
        <p:spPr>
          <a:xfrm rot="0">
            <a:off x="538772" y="8334057"/>
            <a:ext cx="8605228" cy="1829435"/>
          </a:xfrm>
          <a:prstGeom prst="rect">
            <a:avLst/>
          </a:prstGeom>
        </p:spPr>
        <p:txBody>
          <a:bodyPr anchor="t" rtlCol="false" tIns="0" lIns="0" bIns="0" rIns="0">
            <a:spAutoFit/>
          </a:bodyPr>
          <a:lstStyle/>
          <a:p>
            <a:pPr algn="l">
              <a:lnSpc>
                <a:spcPts val="3624"/>
              </a:lnSpc>
            </a:pPr>
            <a:r>
              <a:rPr lang="en-US" sz="2899" spc="-86" b="true">
                <a:solidFill>
                  <a:srgbClr val="19662E"/>
                </a:solidFill>
                <a:latin typeface="Inter Bold"/>
                <a:ea typeface="Inter Bold"/>
                <a:cs typeface="Inter Bold"/>
                <a:sym typeface="Inter Bold"/>
              </a:rPr>
              <a:t>Nama Kelompok :</a:t>
            </a:r>
          </a:p>
          <a:p>
            <a:pPr algn="l" marL="626106" indent="-313053" lvl="1">
              <a:lnSpc>
                <a:spcPts val="3624"/>
              </a:lnSpc>
              <a:buAutoNum type="arabicPeriod" startAt="1"/>
            </a:pPr>
            <a:r>
              <a:rPr lang="en-US" b="true" sz="2899" spc="-86">
                <a:solidFill>
                  <a:srgbClr val="19662E"/>
                </a:solidFill>
                <a:latin typeface="Inter Bold"/>
                <a:ea typeface="Inter Bold"/>
                <a:cs typeface="Inter Bold"/>
                <a:sym typeface="Inter Bold"/>
              </a:rPr>
              <a:t>Iin Febyanti (23083010006)</a:t>
            </a:r>
          </a:p>
          <a:p>
            <a:pPr algn="l" marL="626106" indent="-313053" lvl="1">
              <a:lnSpc>
                <a:spcPts val="3624"/>
              </a:lnSpc>
              <a:buAutoNum type="arabicPeriod" startAt="1"/>
            </a:pPr>
            <a:r>
              <a:rPr lang="en-US" b="true" sz="2899" spc="-86">
                <a:solidFill>
                  <a:srgbClr val="19662E"/>
                </a:solidFill>
                <a:latin typeface="Inter Bold"/>
                <a:ea typeface="Inter Bold"/>
                <a:cs typeface="Inter Bold"/>
                <a:sym typeface="Inter Bold"/>
              </a:rPr>
              <a:t>Arsinta Safira Devi (23083010012)</a:t>
            </a:r>
          </a:p>
          <a:p>
            <a:pPr algn="l" marL="626106" indent="-313053" lvl="1">
              <a:lnSpc>
                <a:spcPts val="3624"/>
              </a:lnSpc>
              <a:buAutoNum type="arabicPeriod" startAt="1"/>
            </a:pPr>
            <a:r>
              <a:rPr lang="en-US" b="true" sz="2899" spc="-86">
                <a:solidFill>
                  <a:srgbClr val="19662E"/>
                </a:solidFill>
                <a:latin typeface="Inter Bold"/>
                <a:ea typeface="Inter Bold"/>
                <a:cs typeface="Inter Bold"/>
                <a:sym typeface="Inter Bold"/>
              </a:rPr>
              <a:t>Setiawati Nugraheni (23083010018)</a:t>
            </a:r>
          </a:p>
        </p:txBody>
      </p:sp>
      <p:sp>
        <p:nvSpPr>
          <p:cNvPr name="TextBox 5" id="5"/>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Oktober 2026</a:t>
            </a:r>
          </a:p>
        </p:txBody>
      </p:sp>
      <p:grpSp>
        <p:nvGrpSpPr>
          <p:cNvPr name="Group 6" id="6"/>
          <p:cNvGrpSpPr/>
          <p:nvPr/>
        </p:nvGrpSpPr>
        <p:grpSpPr>
          <a:xfrm rot="0">
            <a:off x="2211217" y="1330325"/>
            <a:ext cx="16076783" cy="6840904"/>
            <a:chOff x="0" y="0"/>
            <a:chExt cx="4234214" cy="1801720"/>
          </a:xfrm>
        </p:grpSpPr>
        <p:sp>
          <p:nvSpPr>
            <p:cNvPr name="Freeform 7" id="7"/>
            <p:cNvSpPr/>
            <p:nvPr/>
          </p:nvSpPr>
          <p:spPr>
            <a:xfrm flipH="false" flipV="false" rot="0">
              <a:off x="0" y="0"/>
              <a:ext cx="4234214" cy="1801719"/>
            </a:xfrm>
            <a:custGeom>
              <a:avLst/>
              <a:gdLst/>
              <a:ahLst/>
              <a:cxnLst/>
              <a:rect r="r" b="b" t="t" l="l"/>
              <a:pathLst>
                <a:path h="1801719" w="4234214">
                  <a:moveTo>
                    <a:pt x="14447" y="0"/>
                  </a:moveTo>
                  <a:lnTo>
                    <a:pt x="4219768" y="0"/>
                  </a:lnTo>
                  <a:cubicBezTo>
                    <a:pt x="4223599" y="0"/>
                    <a:pt x="4227274" y="1522"/>
                    <a:pt x="4229983" y="4231"/>
                  </a:cubicBezTo>
                  <a:cubicBezTo>
                    <a:pt x="4232692" y="6941"/>
                    <a:pt x="4234214" y="10615"/>
                    <a:pt x="4234214" y="14447"/>
                  </a:cubicBezTo>
                  <a:lnTo>
                    <a:pt x="4234214" y="1787273"/>
                  </a:lnTo>
                  <a:cubicBezTo>
                    <a:pt x="4234214" y="1791104"/>
                    <a:pt x="4232692" y="1794779"/>
                    <a:pt x="4229983" y="1797488"/>
                  </a:cubicBezTo>
                  <a:cubicBezTo>
                    <a:pt x="4227274" y="1800197"/>
                    <a:pt x="4223599" y="1801719"/>
                    <a:pt x="4219768" y="1801719"/>
                  </a:cubicBezTo>
                  <a:lnTo>
                    <a:pt x="14447" y="1801719"/>
                  </a:lnTo>
                  <a:cubicBezTo>
                    <a:pt x="10615" y="1801719"/>
                    <a:pt x="6941" y="1800197"/>
                    <a:pt x="4231" y="1797488"/>
                  </a:cubicBezTo>
                  <a:cubicBezTo>
                    <a:pt x="1522" y="1794779"/>
                    <a:pt x="0" y="1791104"/>
                    <a:pt x="0" y="1787273"/>
                  </a:cubicBezTo>
                  <a:lnTo>
                    <a:pt x="0" y="14447"/>
                  </a:lnTo>
                  <a:cubicBezTo>
                    <a:pt x="0" y="10615"/>
                    <a:pt x="1522" y="6941"/>
                    <a:pt x="4231" y="4231"/>
                  </a:cubicBezTo>
                  <a:cubicBezTo>
                    <a:pt x="6941" y="1522"/>
                    <a:pt x="10615" y="0"/>
                    <a:pt x="14447" y="0"/>
                  </a:cubicBezTo>
                  <a:close/>
                </a:path>
              </a:pathLst>
            </a:custGeom>
            <a:solidFill>
              <a:srgbClr val="FFF7EF">
                <a:alpha val="71765"/>
              </a:srgbClr>
            </a:solidFill>
          </p:spPr>
        </p:sp>
        <p:sp>
          <p:nvSpPr>
            <p:cNvPr name="TextBox 8" id="8"/>
            <p:cNvSpPr txBox="true"/>
            <p:nvPr/>
          </p:nvSpPr>
          <p:spPr>
            <a:xfrm>
              <a:off x="0" y="-47625"/>
              <a:ext cx="4234214" cy="1849345"/>
            </a:xfrm>
            <a:prstGeom prst="rect">
              <a:avLst/>
            </a:prstGeom>
          </p:spPr>
          <p:txBody>
            <a:bodyPr anchor="ctr" rtlCol="false" tIns="50800" lIns="50800" bIns="50800" rIns="50800"/>
            <a:lstStyle/>
            <a:p>
              <a:pPr algn="ctr">
                <a:lnSpc>
                  <a:spcPts val="2800"/>
                </a:lnSpc>
              </a:pPr>
            </a:p>
          </p:txBody>
        </p:sp>
      </p:grpSp>
      <p:sp>
        <p:nvSpPr>
          <p:cNvPr name="TextBox 9" id="9"/>
          <p:cNvSpPr txBox="true"/>
          <p:nvPr/>
        </p:nvSpPr>
        <p:spPr>
          <a:xfrm rot="0">
            <a:off x="3290486" y="2484393"/>
            <a:ext cx="14340876" cy="4562568"/>
          </a:xfrm>
          <a:prstGeom prst="rect">
            <a:avLst/>
          </a:prstGeom>
        </p:spPr>
        <p:txBody>
          <a:bodyPr anchor="t" rtlCol="false" tIns="0" lIns="0" bIns="0" rIns="0">
            <a:spAutoFit/>
          </a:bodyPr>
          <a:lstStyle/>
          <a:p>
            <a:pPr algn="just">
              <a:lnSpc>
                <a:spcPts val="8925"/>
              </a:lnSpc>
            </a:pPr>
            <a:r>
              <a:rPr lang="en-US" b="true" sz="8188" spc="-343">
                <a:solidFill>
                  <a:srgbClr val="19662E"/>
                </a:solidFill>
                <a:latin typeface="Livvic Bold"/>
                <a:ea typeface="Livvic Bold"/>
                <a:cs typeface="Livvic Bold"/>
                <a:sym typeface="Livvic Bold"/>
              </a:rPr>
              <a:t>ANALISIS KEJADIAN BENCANA DI INDONESIA TAHUN 2025 DENGAN DUCKDB DAN DASHBOARD INTERAKTIF</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376043" y="3816122"/>
            <a:ext cx="3608461" cy="4016313"/>
            <a:chOff x="0" y="0"/>
            <a:chExt cx="950377" cy="1057795"/>
          </a:xfrm>
        </p:grpSpPr>
        <p:sp>
          <p:nvSpPr>
            <p:cNvPr name="Freeform 3" id="3"/>
            <p:cNvSpPr/>
            <p:nvPr/>
          </p:nvSpPr>
          <p:spPr>
            <a:xfrm flipH="false" flipV="false" rot="0">
              <a:off x="0" y="0"/>
              <a:ext cx="950377" cy="1057795"/>
            </a:xfrm>
            <a:custGeom>
              <a:avLst/>
              <a:gdLst/>
              <a:ahLst/>
              <a:cxnLst/>
              <a:rect r="r" b="b" t="t" l="l"/>
              <a:pathLst>
                <a:path h="1057795" w="950377">
                  <a:moveTo>
                    <a:pt x="64365" y="0"/>
                  </a:moveTo>
                  <a:lnTo>
                    <a:pt x="886012" y="0"/>
                  </a:lnTo>
                  <a:cubicBezTo>
                    <a:pt x="903082" y="0"/>
                    <a:pt x="919454" y="6781"/>
                    <a:pt x="931525" y="18852"/>
                  </a:cubicBezTo>
                  <a:cubicBezTo>
                    <a:pt x="943595" y="30923"/>
                    <a:pt x="950377" y="47294"/>
                    <a:pt x="950377" y="64365"/>
                  </a:cubicBezTo>
                  <a:lnTo>
                    <a:pt x="950377" y="993430"/>
                  </a:lnTo>
                  <a:cubicBezTo>
                    <a:pt x="950377" y="1028978"/>
                    <a:pt x="921560" y="1057795"/>
                    <a:pt x="886012" y="1057795"/>
                  </a:cubicBezTo>
                  <a:lnTo>
                    <a:pt x="64365" y="1057795"/>
                  </a:lnTo>
                  <a:cubicBezTo>
                    <a:pt x="47294" y="1057795"/>
                    <a:pt x="30923" y="1051013"/>
                    <a:pt x="18852" y="1038943"/>
                  </a:cubicBezTo>
                  <a:cubicBezTo>
                    <a:pt x="6781" y="1026872"/>
                    <a:pt x="0" y="1010500"/>
                    <a:pt x="0" y="993430"/>
                  </a:cubicBezTo>
                  <a:lnTo>
                    <a:pt x="0" y="64365"/>
                  </a:lnTo>
                  <a:cubicBezTo>
                    <a:pt x="0" y="47294"/>
                    <a:pt x="6781" y="30923"/>
                    <a:pt x="18852" y="18852"/>
                  </a:cubicBezTo>
                  <a:cubicBezTo>
                    <a:pt x="30923" y="6781"/>
                    <a:pt x="47294" y="0"/>
                    <a:pt x="64365" y="0"/>
                  </a:cubicBezTo>
                  <a:close/>
                </a:path>
              </a:pathLst>
            </a:custGeom>
            <a:solidFill>
              <a:srgbClr val="FFF7EF"/>
            </a:solidFill>
          </p:spPr>
        </p:sp>
        <p:sp>
          <p:nvSpPr>
            <p:cNvPr name="TextBox 4" id="4"/>
            <p:cNvSpPr txBox="true"/>
            <p:nvPr/>
          </p:nvSpPr>
          <p:spPr>
            <a:xfrm>
              <a:off x="0" y="-38100"/>
              <a:ext cx="950377" cy="1095895"/>
            </a:xfrm>
            <a:prstGeom prst="rect">
              <a:avLst/>
            </a:prstGeom>
          </p:spPr>
          <p:txBody>
            <a:bodyPr anchor="ctr" rtlCol="false" tIns="50800" lIns="50800" bIns="50800" rIns="50800"/>
            <a:lstStyle/>
            <a:p>
              <a:pPr algn="ctr">
                <a:lnSpc>
                  <a:spcPts val="3499"/>
                </a:lnSpc>
              </a:pPr>
              <a:r>
                <a:rPr lang="en-US" sz="2499" spc="-109">
                  <a:solidFill>
                    <a:srgbClr val="19662E"/>
                  </a:solidFill>
                  <a:latin typeface="Inter"/>
                  <a:ea typeface="Inter"/>
                  <a:cs typeface="Inter"/>
                  <a:sym typeface="Inter"/>
                </a:rPr>
                <a:t>Data bencana terdiri dari berbagai jenis kejadian, lokasi, dan dampak.</a:t>
              </a:r>
            </a:p>
          </p:txBody>
        </p:sp>
      </p:grpSp>
      <p:grpSp>
        <p:nvGrpSpPr>
          <p:cNvPr name="Group 5" id="5"/>
          <p:cNvGrpSpPr/>
          <p:nvPr/>
        </p:nvGrpSpPr>
        <p:grpSpPr>
          <a:xfrm rot="0">
            <a:off x="4926729" y="3816122"/>
            <a:ext cx="3608461" cy="4016313"/>
            <a:chOff x="0" y="0"/>
            <a:chExt cx="950377" cy="1057795"/>
          </a:xfrm>
        </p:grpSpPr>
        <p:sp>
          <p:nvSpPr>
            <p:cNvPr name="Freeform 6" id="6"/>
            <p:cNvSpPr/>
            <p:nvPr/>
          </p:nvSpPr>
          <p:spPr>
            <a:xfrm flipH="false" flipV="false" rot="0">
              <a:off x="0" y="0"/>
              <a:ext cx="950377" cy="1057795"/>
            </a:xfrm>
            <a:custGeom>
              <a:avLst/>
              <a:gdLst/>
              <a:ahLst/>
              <a:cxnLst/>
              <a:rect r="r" b="b" t="t" l="l"/>
              <a:pathLst>
                <a:path h="1057795" w="950377">
                  <a:moveTo>
                    <a:pt x="64365" y="0"/>
                  </a:moveTo>
                  <a:lnTo>
                    <a:pt x="886012" y="0"/>
                  </a:lnTo>
                  <a:cubicBezTo>
                    <a:pt x="903082" y="0"/>
                    <a:pt x="919454" y="6781"/>
                    <a:pt x="931525" y="18852"/>
                  </a:cubicBezTo>
                  <a:cubicBezTo>
                    <a:pt x="943595" y="30923"/>
                    <a:pt x="950377" y="47294"/>
                    <a:pt x="950377" y="64365"/>
                  </a:cubicBezTo>
                  <a:lnTo>
                    <a:pt x="950377" y="993430"/>
                  </a:lnTo>
                  <a:cubicBezTo>
                    <a:pt x="950377" y="1028978"/>
                    <a:pt x="921560" y="1057795"/>
                    <a:pt x="886012" y="1057795"/>
                  </a:cubicBezTo>
                  <a:lnTo>
                    <a:pt x="64365" y="1057795"/>
                  </a:lnTo>
                  <a:cubicBezTo>
                    <a:pt x="47294" y="1057795"/>
                    <a:pt x="30923" y="1051013"/>
                    <a:pt x="18852" y="1038943"/>
                  </a:cubicBezTo>
                  <a:cubicBezTo>
                    <a:pt x="6781" y="1026872"/>
                    <a:pt x="0" y="1010500"/>
                    <a:pt x="0" y="993430"/>
                  </a:cubicBezTo>
                  <a:lnTo>
                    <a:pt x="0" y="64365"/>
                  </a:lnTo>
                  <a:cubicBezTo>
                    <a:pt x="0" y="47294"/>
                    <a:pt x="6781" y="30923"/>
                    <a:pt x="18852" y="18852"/>
                  </a:cubicBezTo>
                  <a:cubicBezTo>
                    <a:pt x="30923" y="6781"/>
                    <a:pt x="47294" y="0"/>
                    <a:pt x="64365" y="0"/>
                  </a:cubicBezTo>
                  <a:close/>
                </a:path>
              </a:pathLst>
            </a:custGeom>
            <a:solidFill>
              <a:srgbClr val="FFF7EF"/>
            </a:solidFill>
          </p:spPr>
        </p:sp>
        <p:sp>
          <p:nvSpPr>
            <p:cNvPr name="TextBox 7" id="7"/>
            <p:cNvSpPr txBox="true"/>
            <p:nvPr/>
          </p:nvSpPr>
          <p:spPr>
            <a:xfrm>
              <a:off x="0" y="-47625"/>
              <a:ext cx="950377" cy="1105420"/>
            </a:xfrm>
            <a:prstGeom prst="rect">
              <a:avLst/>
            </a:prstGeom>
          </p:spPr>
          <p:txBody>
            <a:bodyPr anchor="ctr" rtlCol="false" tIns="50800" lIns="50800" bIns="50800" rIns="50800"/>
            <a:lstStyle/>
            <a:p>
              <a:pPr algn="l">
                <a:lnSpc>
                  <a:spcPts val="3779"/>
                </a:lnSpc>
              </a:pPr>
            </a:p>
          </p:txBody>
        </p:sp>
      </p:grpSp>
      <p:grpSp>
        <p:nvGrpSpPr>
          <p:cNvPr name="Group 8" id="8"/>
          <p:cNvGrpSpPr/>
          <p:nvPr/>
        </p:nvGrpSpPr>
        <p:grpSpPr>
          <a:xfrm rot="0">
            <a:off x="9477416" y="3778713"/>
            <a:ext cx="3608461" cy="4053723"/>
            <a:chOff x="0" y="0"/>
            <a:chExt cx="950377" cy="1067647"/>
          </a:xfrm>
        </p:grpSpPr>
        <p:sp>
          <p:nvSpPr>
            <p:cNvPr name="Freeform 9" id="9"/>
            <p:cNvSpPr/>
            <p:nvPr/>
          </p:nvSpPr>
          <p:spPr>
            <a:xfrm flipH="false" flipV="false" rot="0">
              <a:off x="0" y="0"/>
              <a:ext cx="950377" cy="1067647"/>
            </a:xfrm>
            <a:custGeom>
              <a:avLst/>
              <a:gdLst/>
              <a:ahLst/>
              <a:cxnLst/>
              <a:rect r="r" b="b" t="t" l="l"/>
              <a:pathLst>
                <a:path h="1067647" w="950377">
                  <a:moveTo>
                    <a:pt x="64365" y="0"/>
                  </a:moveTo>
                  <a:lnTo>
                    <a:pt x="886012" y="0"/>
                  </a:lnTo>
                  <a:cubicBezTo>
                    <a:pt x="903082" y="0"/>
                    <a:pt x="919454" y="6781"/>
                    <a:pt x="931525" y="18852"/>
                  </a:cubicBezTo>
                  <a:cubicBezTo>
                    <a:pt x="943595" y="30923"/>
                    <a:pt x="950377" y="47294"/>
                    <a:pt x="950377" y="64365"/>
                  </a:cubicBezTo>
                  <a:lnTo>
                    <a:pt x="950377" y="1003282"/>
                  </a:lnTo>
                  <a:cubicBezTo>
                    <a:pt x="950377" y="1020353"/>
                    <a:pt x="943595" y="1036724"/>
                    <a:pt x="931525" y="1048795"/>
                  </a:cubicBezTo>
                  <a:cubicBezTo>
                    <a:pt x="919454" y="1060866"/>
                    <a:pt x="903082" y="1067647"/>
                    <a:pt x="886012" y="1067647"/>
                  </a:cubicBezTo>
                  <a:lnTo>
                    <a:pt x="64365" y="1067647"/>
                  </a:lnTo>
                  <a:cubicBezTo>
                    <a:pt x="28817" y="1067647"/>
                    <a:pt x="0" y="1038830"/>
                    <a:pt x="0" y="1003282"/>
                  </a:cubicBezTo>
                  <a:lnTo>
                    <a:pt x="0" y="64365"/>
                  </a:lnTo>
                  <a:cubicBezTo>
                    <a:pt x="0" y="47294"/>
                    <a:pt x="6781" y="30923"/>
                    <a:pt x="18852" y="18852"/>
                  </a:cubicBezTo>
                  <a:cubicBezTo>
                    <a:pt x="30923" y="6781"/>
                    <a:pt x="47294" y="0"/>
                    <a:pt x="64365" y="0"/>
                  </a:cubicBezTo>
                  <a:close/>
                </a:path>
              </a:pathLst>
            </a:custGeom>
            <a:solidFill>
              <a:srgbClr val="FFF7EF"/>
            </a:solidFill>
          </p:spPr>
        </p:sp>
        <p:sp>
          <p:nvSpPr>
            <p:cNvPr name="TextBox 10" id="10"/>
            <p:cNvSpPr txBox="true"/>
            <p:nvPr/>
          </p:nvSpPr>
          <p:spPr>
            <a:xfrm>
              <a:off x="0" y="-47625"/>
              <a:ext cx="950377" cy="1115272"/>
            </a:xfrm>
            <a:prstGeom prst="rect">
              <a:avLst/>
            </a:prstGeom>
          </p:spPr>
          <p:txBody>
            <a:bodyPr anchor="ctr" rtlCol="false" tIns="50800" lIns="50800" bIns="50800" rIns="50800"/>
            <a:lstStyle/>
            <a:p>
              <a:pPr algn="l">
                <a:lnSpc>
                  <a:spcPts val="3779"/>
                </a:lnSpc>
              </a:pPr>
            </a:p>
          </p:txBody>
        </p:sp>
      </p:grpSp>
      <p:grpSp>
        <p:nvGrpSpPr>
          <p:cNvPr name="Group 11" id="11"/>
          <p:cNvGrpSpPr/>
          <p:nvPr/>
        </p:nvGrpSpPr>
        <p:grpSpPr>
          <a:xfrm rot="0">
            <a:off x="14234675" y="3706653"/>
            <a:ext cx="3608461" cy="4125783"/>
            <a:chOff x="0" y="0"/>
            <a:chExt cx="950377" cy="1086626"/>
          </a:xfrm>
        </p:grpSpPr>
        <p:sp>
          <p:nvSpPr>
            <p:cNvPr name="Freeform 12" id="12"/>
            <p:cNvSpPr/>
            <p:nvPr/>
          </p:nvSpPr>
          <p:spPr>
            <a:xfrm flipH="false" flipV="false" rot="0">
              <a:off x="0" y="0"/>
              <a:ext cx="950377" cy="1086626"/>
            </a:xfrm>
            <a:custGeom>
              <a:avLst/>
              <a:gdLst/>
              <a:ahLst/>
              <a:cxnLst/>
              <a:rect r="r" b="b" t="t" l="l"/>
              <a:pathLst>
                <a:path h="1086626" w="950377">
                  <a:moveTo>
                    <a:pt x="64365" y="0"/>
                  </a:moveTo>
                  <a:lnTo>
                    <a:pt x="886012" y="0"/>
                  </a:lnTo>
                  <a:cubicBezTo>
                    <a:pt x="903082" y="0"/>
                    <a:pt x="919454" y="6781"/>
                    <a:pt x="931525" y="18852"/>
                  </a:cubicBezTo>
                  <a:cubicBezTo>
                    <a:pt x="943595" y="30923"/>
                    <a:pt x="950377" y="47294"/>
                    <a:pt x="950377" y="64365"/>
                  </a:cubicBezTo>
                  <a:lnTo>
                    <a:pt x="950377" y="1022261"/>
                  </a:lnTo>
                  <a:cubicBezTo>
                    <a:pt x="950377" y="1057809"/>
                    <a:pt x="921560" y="1086626"/>
                    <a:pt x="886012" y="1086626"/>
                  </a:cubicBezTo>
                  <a:lnTo>
                    <a:pt x="64365" y="1086626"/>
                  </a:lnTo>
                  <a:cubicBezTo>
                    <a:pt x="47294" y="1086626"/>
                    <a:pt x="30923" y="1079845"/>
                    <a:pt x="18852" y="1067774"/>
                  </a:cubicBezTo>
                  <a:cubicBezTo>
                    <a:pt x="6781" y="1055703"/>
                    <a:pt x="0" y="1039332"/>
                    <a:pt x="0" y="1022261"/>
                  </a:cubicBezTo>
                  <a:lnTo>
                    <a:pt x="0" y="64365"/>
                  </a:lnTo>
                  <a:cubicBezTo>
                    <a:pt x="0" y="47294"/>
                    <a:pt x="6781" y="30923"/>
                    <a:pt x="18852" y="18852"/>
                  </a:cubicBezTo>
                  <a:cubicBezTo>
                    <a:pt x="30923" y="6781"/>
                    <a:pt x="47294" y="0"/>
                    <a:pt x="64365" y="0"/>
                  </a:cubicBezTo>
                  <a:close/>
                </a:path>
              </a:pathLst>
            </a:custGeom>
            <a:solidFill>
              <a:srgbClr val="FFF7EF"/>
            </a:solidFill>
          </p:spPr>
        </p:sp>
        <p:sp>
          <p:nvSpPr>
            <p:cNvPr name="TextBox 13" id="13"/>
            <p:cNvSpPr txBox="true"/>
            <p:nvPr/>
          </p:nvSpPr>
          <p:spPr>
            <a:xfrm>
              <a:off x="0" y="-47625"/>
              <a:ext cx="950377" cy="1134251"/>
            </a:xfrm>
            <a:prstGeom prst="rect">
              <a:avLst/>
            </a:prstGeom>
          </p:spPr>
          <p:txBody>
            <a:bodyPr anchor="ctr" rtlCol="false" tIns="50800" lIns="50800" bIns="50800" rIns="50800"/>
            <a:lstStyle/>
            <a:p>
              <a:pPr algn="l">
                <a:lnSpc>
                  <a:spcPts val="3779"/>
                </a:lnSpc>
              </a:pPr>
            </a:p>
          </p:txBody>
        </p:sp>
      </p:grpSp>
      <p:sp>
        <p:nvSpPr>
          <p:cNvPr name="TextBox 14" id="14"/>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15" id="15"/>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October 2026</a:t>
            </a:r>
          </a:p>
        </p:txBody>
      </p:sp>
      <p:sp>
        <p:nvSpPr>
          <p:cNvPr name="TextBox 16" id="16"/>
          <p:cNvSpPr txBox="true"/>
          <p:nvPr/>
        </p:nvSpPr>
        <p:spPr>
          <a:xfrm rot="0">
            <a:off x="663524" y="2294657"/>
            <a:ext cx="19400100" cy="840359"/>
          </a:xfrm>
          <a:prstGeom prst="rect">
            <a:avLst/>
          </a:prstGeom>
        </p:spPr>
        <p:txBody>
          <a:bodyPr anchor="t" rtlCol="false" tIns="0" lIns="0" bIns="0" rIns="0">
            <a:spAutoFit/>
          </a:bodyPr>
          <a:lstStyle/>
          <a:p>
            <a:pPr algn="l">
              <a:lnSpc>
                <a:spcPts val="6298"/>
              </a:lnSpc>
            </a:pPr>
            <a:r>
              <a:rPr lang="en-US" b="true" sz="6700" spc="-281">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LATAR BELAKANG</a:t>
            </a:r>
          </a:p>
        </p:txBody>
      </p:sp>
      <p:sp>
        <p:nvSpPr>
          <p:cNvPr name="TextBox 17" id="17"/>
          <p:cNvSpPr txBox="true"/>
          <p:nvPr/>
        </p:nvSpPr>
        <p:spPr>
          <a:xfrm rot="0">
            <a:off x="5319772" y="4978459"/>
            <a:ext cx="2822375" cy="1727200"/>
          </a:xfrm>
          <a:prstGeom prst="rect">
            <a:avLst/>
          </a:prstGeom>
        </p:spPr>
        <p:txBody>
          <a:bodyPr anchor="t" rtlCol="false" tIns="0" lIns="0" bIns="0" rIns="0">
            <a:spAutoFit/>
          </a:bodyPr>
          <a:lstStyle/>
          <a:p>
            <a:pPr algn="ctr">
              <a:lnSpc>
                <a:spcPts val="3499"/>
              </a:lnSpc>
              <a:spcBef>
                <a:spcPct val="0"/>
              </a:spcBef>
            </a:pPr>
            <a:r>
              <a:rPr lang="en-US" sz="2499" spc="-109">
                <a:solidFill>
                  <a:srgbClr val="19662E"/>
                </a:solidFill>
                <a:latin typeface="Inter"/>
                <a:ea typeface="Inter"/>
                <a:cs typeface="Inter"/>
                <a:sym typeface="Inter"/>
              </a:rPr>
              <a:t>Data yang tersebar dalam beberapa file perlu diolah agar mudah ditelusuri.</a:t>
            </a:r>
          </a:p>
        </p:txBody>
      </p:sp>
      <p:sp>
        <p:nvSpPr>
          <p:cNvPr name="TextBox 18" id="18"/>
          <p:cNvSpPr txBox="true"/>
          <p:nvPr/>
        </p:nvSpPr>
        <p:spPr>
          <a:xfrm rot="0">
            <a:off x="9673938" y="5178865"/>
            <a:ext cx="3215418" cy="1309878"/>
          </a:xfrm>
          <a:prstGeom prst="rect">
            <a:avLst/>
          </a:prstGeom>
        </p:spPr>
        <p:txBody>
          <a:bodyPr anchor="t" rtlCol="false" tIns="0" lIns="0" bIns="0" rIns="0">
            <a:spAutoFit/>
          </a:bodyPr>
          <a:lstStyle/>
          <a:p>
            <a:pPr algn="ctr">
              <a:lnSpc>
                <a:spcPts val="2615"/>
              </a:lnSpc>
              <a:spcBef>
                <a:spcPct val="0"/>
              </a:spcBef>
            </a:pPr>
            <a:r>
              <a:rPr lang="en-US" sz="2399" spc="-105">
                <a:solidFill>
                  <a:srgbClr val="19662E"/>
                </a:solidFill>
                <a:latin typeface="Inter"/>
                <a:ea typeface="Inter"/>
                <a:cs typeface="Inter"/>
                <a:sym typeface="Inter"/>
              </a:rPr>
              <a:t>Visualisasi membantu mengidentifikasi persebaran, tren, dan dampak bencana.</a:t>
            </a:r>
          </a:p>
        </p:txBody>
      </p:sp>
      <p:sp>
        <p:nvSpPr>
          <p:cNvPr name="TextBox 19" id="19"/>
          <p:cNvSpPr txBox="true"/>
          <p:nvPr/>
        </p:nvSpPr>
        <p:spPr>
          <a:xfrm rot="0">
            <a:off x="14431196" y="5178865"/>
            <a:ext cx="3215418" cy="1309878"/>
          </a:xfrm>
          <a:prstGeom prst="rect">
            <a:avLst/>
          </a:prstGeom>
        </p:spPr>
        <p:txBody>
          <a:bodyPr anchor="t" rtlCol="false" tIns="0" lIns="0" bIns="0" rIns="0">
            <a:spAutoFit/>
          </a:bodyPr>
          <a:lstStyle/>
          <a:p>
            <a:pPr algn="ctr">
              <a:lnSpc>
                <a:spcPts val="2615"/>
              </a:lnSpc>
              <a:spcBef>
                <a:spcPct val="0"/>
              </a:spcBef>
            </a:pPr>
            <a:r>
              <a:rPr lang="en-US" sz="2399" spc="-105">
                <a:solidFill>
                  <a:srgbClr val="19662E"/>
                </a:solidFill>
                <a:latin typeface="Inter"/>
                <a:ea typeface="Inter"/>
                <a:cs typeface="Inter"/>
                <a:sym typeface="Inter"/>
              </a:rPr>
              <a:t>Dashboard interaktif dikembangkan untuk menyajikan informasi dalam satu tampilan.</a:t>
            </a:r>
          </a:p>
        </p:txBody>
      </p:sp>
      <p:sp>
        <p:nvSpPr>
          <p:cNvPr name="TextBox 20" id="20"/>
          <p:cNvSpPr txBox="true"/>
          <p:nvPr/>
        </p:nvSpPr>
        <p:spPr>
          <a:xfrm rot="0">
            <a:off x="376043" y="3849391"/>
            <a:ext cx="3608461" cy="662941"/>
          </a:xfrm>
          <a:prstGeom prst="rect">
            <a:avLst/>
          </a:prstGeom>
        </p:spPr>
        <p:txBody>
          <a:bodyPr anchor="t" rtlCol="false" tIns="0" lIns="0" bIns="0" rIns="0">
            <a:spAutoFit/>
          </a:bodyPr>
          <a:lstStyle/>
          <a:p>
            <a:pPr algn="ctr">
              <a:lnSpc>
                <a:spcPts val="5459"/>
              </a:lnSpc>
              <a:spcBef>
                <a:spcPct val="0"/>
              </a:spcBef>
            </a:pPr>
            <a:r>
              <a:rPr lang="en-US" b="true" sz="3899" spc="-171">
                <a:solidFill>
                  <a:srgbClr val="19662E"/>
                </a:solidFill>
                <a:latin typeface="Inter Bold"/>
                <a:ea typeface="Inter Bold"/>
                <a:cs typeface="Inter Bold"/>
                <a:sym typeface="Inter Bold"/>
              </a:rPr>
              <a:t>1</a:t>
            </a:r>
          </a:p>
        </p:txBody>
      </p:sp>
      <p:sp>
        <p:nvSpPr>
          <p:cNvPr name="TextBox 21" id="21"/>
          <p:cNvSpPr txBox="true"/>
          <p:nvPr/>
        </p:nvSpPr>
        <p:spPr>
          <a:xfrm rot="0">
            <a:off x="4926729" y="3739922"/>
            <a:ext cx="3608461" cy="662941"/>
          </a:xfrm>
          <a:prstGeom prst="rect">
            <a:avLst/>
          </a:prstGeom>
        </p:spPr>
        <p:txBody>
          <a:bodyPr anchor="t" rtlCol="false" tIns="0" lIns="0" bIns="0" rIns="0">
            <a:spAutoFit/>
          </a:bodyPr>
          <a:lstStyle/>
          <a:p>
            <a:pPr algn="ctr">
              <a:lnSpc>
                <a:spcPts val="5459"/>
              </a:lnSpc>
              <a:spcBef>
                <a:spcPct val="0"/>
              </a:spcBef>
            </a:pPr>
            <a:r>
              <a:rPr lang="en-US" b="true" sz="3899" spc="-171">
                <a:solidFill>
                  <a:srgbClr val="19662E"/>
                </a:solidFill>
                <a:latin typeface="Inter Bold"/>
                <a:ea typeface="Inter Bold"/>
                <a:cs typeface="Inter Bold"/>
                <a:sym typeface="Inter Bold"/>
              </a:rPr>
              <a:t>2</a:t>
            </a:r>
          </a:p>
        </p:txBody>
      </p:sp>
      <p:sp>
        <p:nvSpPr>
          <p:cNvPr name="TextBox 22" id="22"/>
          <p:cNvSpPr txBox="true"/>
          <p:nvPr/>
        </p:nvSpPr>
        <p:spPr>
          <a:xfrm rot="0">
            <a:off x="9477416" y="3630453"/>
            <a:ext cx="3608461" cy="662941"/>
          </a:xfrm>
          <a:prstGeom prst="rect">
            <a:avLst/>
          </a:prstGeom>
        </p:spPr>
        <p:txBody>
          <a:bodyPr anchor="t" rtlCol="false" tIns="0" lIns="0" bIns="0" rIns="0">
            <a:spAutoFit/>
          </a:bodyPr>
          <a:lstStyle/>
          <a:p>
            <a:pPr algn="ctr">
              <a:lnSpc>
                <a:spcPts val="5459"/>
              </a:lnSpc>
              <a:spcBef>
                <a:spcPct val="0"/>
              </a:spcBef>
            </a:pPr>
            <a:r>
              <a:rPr lang="en-US" b="true" sz="3899" spc="-171">
                <a:solidFill>
                  <a:srgbClr val="19662E"/>
                </a:solidFill>
                <a:latin typeface="Inter Bold"/>
                <a:ea typeface="Inter Bold"/>
                <a:cs typeface="Inter Bold"/>
                <a:sym typeface="Inter Bold"/>
              </a:rPr>
              <a:t>3</a:t>
            </a:r>
          </a:p>
        </p:txBody>
      </p:sp>
      <p:sp>
        <p:nvSpPr>
          <p:cNvPr name="TextBox 23" id="23"/>
          <p:cNvSpPr txBox="true"/>
          <p:nvPr/>
        </p:nvSpPr>
        <p:spPr>
          <a:xfrm rot="0">
            <a:off x="14234675" y="3630453"/>
            <a:ext cx="3608461" cy="662941"/>
          </a:xfrm>
          <a:prstGeom prst="rect">
            <a:avLst/>
          </a:prstGeom>
        </p:spPr>
        <p:txBody>
          <a:bodyPr anchor="t" rtlCol="false" tIns="0" lIns="0" bIns="0" rIns="0">
            <a:spAutoFit/>
          </a:bodyPr>
          <a:lstStyle/>
          <a:p>
            <a:pPr algn="ctr">
              <a:lnSpc>
                <a:spcPts val="5459"/>
              </a:lnSpc>
              <a:spcBef>
                <a:spcPct val="0"/>
              </a:spcBef>
            </a:pPr>
            <a:r>
              <a:rPr lang="en-US" b="true" sz="3899" spc="-171">
                <a:solidFill>
                  <a:srgbClr val="19662E"/>
                </a:solidFill>
                <a:latin typeface="Inter Bold"/>
                <a:ea typeface="Inter Bold"/>
                <a:cs typeface="Inter Bold"/>
                <a:sym typeface="Inter Bold"/>
              </a:rPr>
              <a:t>4</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7EF"/>
        </a:solidFill>
      </p:bgPr>
    </p:bg>
    <p:spTree>
      <p:nvGrpSpPr>
        <p:cNvPr id="1" name=""/>
        <p:cNvGrpSpPr/>
        <p:nvPr/>
      </p:nvGrpSpPr>
      <p:grpSpPr>
        <a:xfrm>
          <a:off x="0" y="0"/>
          <a:ext cx="0" cy="0"/>
          <a:chOff x="0" y="0"/>
          <a:chExt cx="0" cy="0"/>
        </a:xfrm>
      </p:grpSpPr>
      <p:sp>
        <p:nvSpPr>
          <p:cNvPr name="TextBox 2" id="2"/>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October 2026</a:t>
            </a:r>
          </a:p>
        </p:txBody>
      </p:sp>
      <p:grpSp>
        <p:nvGrpSpPr>
          <p:cNvPr name="Group 3" id="3"/>
          <p:cNvGrpSpPr/>
          <p:nvPr/>
        </p:nvGrpSpPr>
        <p:grpSpPr>
          <a:xfrm rot="0">
            <a:off x="864544" y="4197885"/>
            <a:ext cx="16831868" cy="4866086"/>
            <a:chOff x="0" y="0"/>
            <a:chExt cx="4433085" cy="1281603"/>
          </a:xfrm>
        </p:grpSpPr>
        <p:sp>
          <p:nvSpPr>
            <p:cNvPr name="Freeform 4" id="4"/>
            <p:cNvSpPr/>
            <p:nvPr/>
          </p:nvSpPr>
          <p:spPr>
            <a:xfrm flipH="false" flipV="false" rot="0">
              <a:off x="0" y="0"/>
              <a:ext cx="4433085" cy="1281603"/>
            </a:xfrm>
            <a:custGeom>
              <a:avLst/>
              <a:gdLst/>
              <a:ahLst/>
              <a:cxnLst/>
              <a:rect r="r" b="b" t="t" l="l"/>
              <a:pathLst>
                <a:path h="1281603" w="4433085">
                  <a:moveTo>
                    <a:pt x="13799" y="0"/>
                  </a:moveTo>
                  <a:lnTo>
                    <a:pt x="4419286" y="0"/>
                  </a:lnTo>
                  <a:cubicBezTo>
                    <a:pt x="4422946" y="0"/>
                    <a:pt x="4426455" y="1454"/>
                    <a:pt x="4429043" y="4042"/>
                  </a:cubicBezTo>
                  <a:cubicBezTo>
                    <a:pt x="4431631" y="6629"/>
                    <a:pt x="4433085" y="10139"/>
                    <a:pt x="4433085" y="13799"/>
                  </a:cubicBezTo>
                  <a:lnTo>
                    <a:pt x="4433085" y="1267804"/>
                  </a:lnTo>
                  <a:cubicBezTo>
                    <a:pt x="4433085" y="1271464"/>
                    <a:pt x="4431631" y="1274974"/>
                    <a:pt x="4429043" y="1277561"/>
                  </a:cubicBezTo>
                  <a:cubicBezTo>
                    <a:pt x="4426455" y="1280149"/>
                    <a:pt x="4422946" y="1281603"/>
                    <a:pt x="4419286" y="1281603"/>
                  </a:cubicBezTo>
                  <a:lnTo>
                    <a:pt x="13799" y="1281603"/>
                  </a:lnTo>
                  <a:cubicBezTo>
                    <a:pt x="10139" y="1281603"/>
                    <a:pt x="6629" y="1280149"/>
                    <a:pt x="4042" y="1277561"/>
                  </a:cubicBezTo>
                  <a:cubicBezTo>
                    <a:pt x="1454" y="1274974"/>
                    <a:pt x="0" y="1271464"/>
                    <a:pt x="0" y="1267804"/>
                  </a:cubicBezTo>
                  <a:lnTo>
                    <a:pt x="0" y="13799"/>
                  </a:lnTo>
                  <a:cubicBezTo>
                    <a:pt x="0" y="10139"/>
                    <a:pt x="1454" y="6629"/>
                    <a:pt x="4042" y="4042"/>
                  </a:cubicBezTo>
                  <a:cubicBezTo>
                    <a:pt x="6629" y="1454"/>
                    <a:pt x="10139" y="0"/>
                    <a:pt x="13799" y="0"/>
                  </a:cubicBezTo>
                  <a:close/>
                </a:path>
              </a:pathLst>
            </a:custGeom>
            <a:solidFill>
              <a:srgbClr val="FFF7EF"/>
            </a:solidFill>
          </p:spPr>
        </p:sp>
        <p:sp>
          <p:nvSpPr>
            <p:cNvPr name="TextBox 5" id="5"/>
            <p:cNvSpPr txBox="true"/>
            <p:nvPr/>
          </p:nvSpPr>
          <p:spPr>
            <a:xfrm>
              <a:off x="0" y="-47625"/>
              <a:ext cx="4433085" cy="1329228"/>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1028700" y="4710409"/>
            <a:ext cx="16230600" cy="4353562"/>
          </a:xfrm>
          <a:prstGeom prst="rect">
            <a:avLst/>
          </a:prstGeom>
        </p:spPr>
        <p:txBody>
          <a:bodyPr anchor="t" rtlCol="false" tIns="0" lIns="0" bIns="0" rIns="0">
            <a:spAutoFit/>
          </a:bodyPr>
          <a:lstStyle/>
          <a:p>
            <a:pPr algn="just" marL="755642" indent="-377821" lvl="1">
              <a:lnSpc>
                <a:spcPts val="5844"/>
              </a:lnSpc>
              <a:buFont typeface="Arial"/>
              <a:buChar char="•"/>
            </a:pPr>
            <a:r>
              <a:rPr lang="en-US" sz="3499">
                <a:solidFill>
                  <a:srgbClr val="19662E"/>
                </a:solidFill>
                <a:latin typeface="Inter"/>
                <a:ea typeface="Inter"/>
                <a:cs typeface="Inter"/>
                <a:sym typeface="Inter"/>
              </a:rPr>
              <a:t>M</a:t>
            </a:r>
            <a:r>
              <a:rPr lang="en-US" sz="3499">
                <a:solidFill>
                  <a:srgbClr val="19662E"/>
                </a:solidFill>
                <a:latin typeface="Inter"/>
                <a:ea typeface="Inter"/>
                <a:cs typeface="Inter"/>
                <a:sym typeface="Inter"/>
              </a:rPr>
              <a:t>engolah data kejadian bencana tahun 2025 menggunakan DuckDB.</a:t>
            </a:r>
          </a:p>
          <a:p>
            <a:pPr algn="just" marL="755642" indent="-377821" lvl="1">
              <a:lnSpc>
                <a:spcPts val="5844"/>
              </a:lnSpc>
              <a:buFont typeface="Arial"/>
              <a:buChar char="•"/>
            </a:pPr>
            <a:r>
              <a:rPr lang="en-US" sz="3499">
                <a:solidFill>
                  <a:srgbClr val="19662E"/>
                </a:solidFill>
                <a:latin typeface="Inter"/>
                <a:ea typeface="Inter"/>
                <a:cs typeface="Inter"/>
                <a:sym typeface="Inter"/>
              </a:rPr>
              <a:t>Mengetahui jenis bencana dan wilayah dengan jumlah kejadian tertinggi.</a:t>
            </a:r>
          </a:p>
          <a:p>
            <a:pPr algn="just" marL="755642" indent="-377821" lvl="1">
              <a:lnSpc>
                <a:spcPts val="5844"/>
              </a:lnSpc>
              <a:buFont typeface="Arial"/>
              <a:buChar char="•"/>
            </a:pPr>
            <a:r>
              <a:rPr lang="en-US" sz="3499">
                <a:solidFill>
                  <a:srgbClr val="19662E"/>
                </a:solidFill>
                <a:latin typeface="Inter"/>
                <a:ea typeface="Inter"/>
                <a:cs typeface="Inter"/>
                <a:sym typeface="Inter"/>
              </a:rPr>
              <a:t>Mengidentifikasi puncak kejadian bencana berdasarkan tren bulanan 2025.</a:t>
            </a:r>
          </a:p>
          <a:p>
            <a:pPr algn="just" marL="755642" indent="-377821" lvl="1">
              <a:lnSpc>
                <a:spcPts val="5844"/>
              </a:lnSpc>
              <a:buFont typeface="Arial"/>
              <a:buChar char="•"/>
            </a:pPr>
            <a:r>
              <a:rPr lang="en-US" sz="3499">
                <a:solidFill>
                  <a:srgbClr val="19662E"/>
                </a:solidFill>
                <a:latin typeface="Inter"/>
                <a:ea typeface="Inter"/>
                <a:cs typeface="Inter"/>
                <a:sym typeface="Inter"/>
              </a:rPr>
              <a:t>Membandingkan data kejadian BNPB dengan postingan Twitter.</a:t>
            </a:r>
          </a:p>
          <a:p>
            <a:pPr algn="just" marL="755642" indent="-377821" lvl="1">
              <a:lnSpc>
                <a:spcPts val="5844"/>
              </a:lnSpc>
              <a:buFont typeface="Arial"/>
              <a:buChar char="•"/>
            </a:pPr>
            <a:r>
              <a:rPr lang="en-US" sz="3499">
                <a:solidFill>
                  <a:srgbClr val="19662E"/>
                </a:solidFill>
                <a:latin typeface="Inter"/>
                <a:ea typeface="Inter"/>
                <a:cs typeface="Inter"/>
                <a:sym typeface="Inter"/>
              </a:rPr>
              <a:t>Menyajikan hasil pengolahan data dalam dashboard interaktif.</a:t>
            </a:r>
          </a:p>
          <a:p>
            <a:pPr algn="just">
              <a:lnSpc>
                <a:spcPts val="5844"/>
              </a:lnSpc>
            </a:pPr>
          </a:p>
        </p:txBody>
      </p:sp>
      <p:sp>
        <p:nvSpPr>
          <p:cNvPr name="TextBox 7" id="7"/>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8" id="8"/>
          <p:cNvSpPr txBox="true"/>
          <p:nvPr/>
        </p:nvSpPr>
        <p:spPr>
          <a:xfrm rot="0">
            <a:off x="1028700" y="2563686"/>
            <a:ext cx="19400100" cy="840359"/>
          </a:xfrm>
          <a:prstGeom prst="rect">
            <a:avLst/>
          </a:prstGeom>
        </p:spPr>
        <p:txBody>
          <a:bodyPr anchor="t" rtlCol="false" tIns="0" lIns="0" bIns="0" rIns="0">
            <a:spAutoFit/>
          </a:bodyPr>
          <a:lstStyle/>
          <a:p>
            <a:pPr algn="l">
              <a:lnSpc>
                <a:spcPts val="6298"/>
              </a:lnSpc>
            </a:pPr>
            <a:r>
              <a:rPr lang="en-US" b="true" sz="6700" spc="-281">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TUJUAN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376043" y="3816122"/>
            <a:ext cx="3608461" cy="2729575"/>
            <a:chOff x="0" y="0"/>
            <a:chExt cx="950377" cy="718900"/>
          </a:xfrm>
        </p:grpSpPr>
        <p:sp>
          <p:nvSpPr>
            <p:cNvPr name="Freeform 3" id="3"/>
            <p:cNvSpPr/>
            <p:nvPr/>
          </p:nvSpPr>
          <p:spPr>
            <a:xfrm flipH="false" flipV="false" rot="0">
              <a:off x="0" y="0"/>
              <a:ext cx="950377" cy="718900"/>
            </a:xfrm>
            <a:custGeom>
              <a:avLst/>
              <a:gdLst/>
              <a:ahLst/>
              <a:cxnLst/>
              <a:rect r="r" b="b" t="t" l="l"/>
              <a:pathLst>
                <a:path h="718900" w="950377">
                  <a:moveTo>
                    <a:pt x="64365" y="0"/>
                  </a:moveTo>
                  <a:lnTo>
                    <a:pt x="886012" y="0"/>
                  </a:lnTo>
                  <a:cubicBezTo>
                    <a:pt x="903082" y="0"/>
                    <a:pt x="919454" y="6781"/>
                    <a:pt x="931525" y="18852"/>
                  </a:cubicBezTo>
                  <a:cubicBezTo>
                    <a:pt x="943595" y="30923"/>
                    <a:pt x="950377" y="47294"/>
                    <a:pt x="950377" y="64365"/>
                  </a:cubicBezTo>
                  <a:lnTo>
                    <a:pt x="950377" y="654536"/>
                  </a:lnTo>
                  <a:cubicBezTo>
                    <a:pt x="950377" y="690083"/>
                    <a:pt x="921560" y="718900"/>
                    <a:pt x="886012" y="718900"/>
                  </a:cubicBezTo>
                  <a:lnTo>
                    <a:pt x="64365" y="718900"/>
                  </a:lnTo>
                  <a:cubicBezTo>
                    <a:pt x="47294" y="718900"/>
                    <a:pt x="30923" y="712119"/>
                    <a:pt x="18852" y="700048"/>
                  </a:cubicBezTo>
                  <a:cubicBezTo>
                    <a:pt x="6781" y="687978"/>
                    <a:pt x="0" y="671606"/>
                    <a:pt x="0" y="654536"/>
                  </a:cubicBezTo>
                  <a:lnTo>
                    <a:pt x="0" y="64365"/>
                  </a:lnTo>
                  <a:cubicBezTo>
                    <a:pt x="0" y="47294"/>
                    <a:pt x="6781" y="30923"/>
                    <a:pt x="18852" y="18852"/>
                  </a:cubicBezTo>
                  <a:cubicBezTo>
                    <a:pt x="30923" y="6781"/>
                    <a:pt x="47294" y="0"/>
                    <a:pt x="64365" y="0"/>
                  </a:cubicBezTo>
                  <a:close/>
                </a:path>
              </a:pathLst>
            </a:custGeom>
            <a:solidFill>
              <a:srgbClr val="FFF7EF"/>
            </a:solidFill>
          </p:spPr>
        </p:sp>
        <p:sp>
          <p:nvSpPr>
            <p:cNvPr name="TextBox 4" id="4"/>
            <p:cNvSpPr txBox="true"/>
            <p:nvPr/>
          </p:nvSpPr>
          <p:spPr>
            <a:xfrm>
              <a:off x="0" y="-47625"/>
              <a:ext cx="950377" cy="766525"/>
            </a:xfrm>
            <a:prstGeom prst="rect">
              <a:avLst/>
            </a:prstGeom>
          </p:spPr>
          <p:txBody>
            <a:bodyPr anchor="ctr" rtlCol="false" tIns="50800" lIns="50800" bIns="50800" rIns="50800"/>
            <a:lstStyle/>
            <a:p>
              <a:pPr algn="l">
                <a:lnSpc>
                  <a:spcPts val="3779"/>
                </a:lnSpc>
              </a:pPr>
            </a:p>
          </p:txBody>
        </p:sp>
      </p:grpSp>
      <p:grpSp>
        <p:nvGrpSpPr>
          <p:cNvPr name="Group 5" id="5"/>
          <p:cNvGrpSpPr/>
          <p:nvPr/>
        </p:nvGrpSpPr>
        <p:grpSpPr>
          <a:xfrm rot="0">
            <a:off x="4926729" y="3816122"/>
            <a:ext cx="3608461" cy="2729575"/>
            <a:chOff x="0" y="0"/>
            <a:chExt cx="950377" cy="718900"/>
          </a:xfrm>
        </p:grpSpPr>
        <p:sp>
          <p:nvSpPr>
            <p:cNvPr name="Freeform 6" id="6"/>
            <p:cNvSpPr/>
            <p:nvPr/>
          </p:nvSpPr>
          <p:spPr>
            <a:xfrm flipH="false" flipV="false" rot="0">
              <a:off x="0" y="0"/>
              <a:ext cx="950377" cy="718900"/>
            </a:xfrm>
            <a:custGeom>
              <a:avLst/>
              <a:gdLst/>
              <a:ahLst/>
              <a:cxnLst/>
              <a:rect r="r" b="b" t="t" l="l"/>
              <a:pathLst>
                <a:path h="718900" w="950377">
                  <a:moveTo>
                    <a:pt x="64365" y="0"/>
                  </a:moveTo>
                  <a:lnTo>
                    <a:pt x="886012" y="0"/>
                  </a:lnTo>
                  <a:cubicBezTo>
                    <a:pt x="903082" y="0"/>
                    <a:pt x="919454" y="6781"/>
                    <a:pt x="931525" y="18852"/>
                  </a:cubicBezTo>
                  <a:cubicBezTo>
                    <a:pt x="943595" y="30923"/>
                    <a:pt x="950377" y="47294"/>
                    <a:pt x="950377" y="64365"/>
                  </a:cubicBezTo>
                  <a:lnTo>
                    <a:pt x="950377" y="654536"/>
                  </a:lnTo>
                  <a:cubicBezTo>
                    <a:pt x="950377" y="690083"/>
                    <a:pt x="921560" y="718900"/>
                    <a:pt x="886012" y="718900"/>
                  </a:cubicBezTo>
                  <a:lnTo>
                    <a:pt x="64365" y="718900"/>
                  </a:lnTo>
                  <a:cubicBezTo>
                    <a:pt x="47294" y="718900"/>
                    <a:pt x="30923" y="712119"/>
                    <a:pt x="18852" y="700048"/>
                  </a:cubicBezTo>
                  <a:cubicBezTo>
                    <a:pt x="6781" y="687978"/>
                    <a:pt x="0" y="671606"/>
                    <a:pt x="0" y="654536"/>
                  </a:cubicBezTo>
                  <a:lnTo>
                    <a:pt x="0" y="64365"/>
                  </a:lnTo>
                  <a:cubicBezTo>
                    <a:pt x="0" y="47294"/>
                    <a:pt x="6781" y="30923"/>
                    <a:pt x="18852" y="18852"/>
                  </a:cubicBezTo>
                  <a:cubicBezTo>
                    <a:pt x="30923" y="6781"/>
                    <a:pt x="47294" y="0"/>
                    <a:pt x="64365" y="0"/>
                  </a:cubicBezTo>
                  <a:close/>
                </a:path>
              </a:pathLst>
            </a:custGeom>
            <a:solidFill>
              <a:srgbClr val="FFF7EF"/>
            </a:solidFill>
          </p:spPr>
        </p:sp>
        <p:sp>
          <p:nvSpPr>
            <p:cNvPr name="TextBox 7" id="7"/>
            <p:cNvSpPr txBox="true"/>
            <p:nvPr/>
          </p:nvSpPr>
          <p:spPr>
            <a:xfrm>
              <a:off x="0" y="-47625"/>
              <a:ext cx="950377" cy="766525"/>
            </a:xfrm>
            <a:prstGeom prst="rect">
              <a:avLst/>
            </a:prstGeom>
          </p:spPr>
          <p:txBody>
            <a:bodyPr anchor="ctr" rtlCol="false" tIns="50800" lIns="50800" bIns="50800" rIns="50800"/>
            <a:lstStyle/>
            <a:p>
              <a:pPr algn="l">
                <a:lnSpc>
                  <a:spcPts val="3779"/>
                </a:lnSpc>
              </a:pPr>
            </a:p>
          </p:txBody>
        </p:sp>
      </p:grpSp>
      <p:grpSp>
        <p:nvGrpSpPr>
          <p:cNvPr name="Group 8" id="8"/>
          <p:cNvGrpSpPr/>
          <p:nvPr/>
        </p:nvGrpSpPr>
        <p:grpSpPr>
          <a:xfrm rot="0">
            <a:off x="9477416" y="3778713"/>
            <a:ext cx="3608461" cy="2729575"/>
            <a:chOff x="0" y="0"/>
            <a:chExt cx="950377" cy="718900"/>
          </a:xfrm>
        </p:grpSpPr>
        <p:sp>
          <p:nvSpPr>
            <p:cNvPr name="Freeform 9" id="9"/>
            <p:cNvSpPr/>
            <p:nvPr/>
          </p:nvSpPr>
          <p:spPr>
            <a:xfrm flipH="false" flipV="false" rot="0">
              <a:off x="0" y="0"/>
              <a:ext cx="950377" cy="718900"/>
            </a:xfrm>
            <a:custGeom>
              <a:avLst/>
              <a:gdLst/>
              <a:ahLst/>
              <a:cxnLst/>
              <a:rect r="r" b="b" t="t" l="l"/>
              <a:pathLst>
                <a:path h="718900" w="950377">
                  <a:moveTo>
                    <a:pt x="64365" y="0"/>
                  </a:moveTo>
                  <a:lnTo>
                    <a:pt x="886012" y="0"/>
                  </a:lnTo>
                  <a:cubicBezTo>
                    <a:pt x="903082" y="0"/>
                    <a:pt x="919454" y="6781"/>
                    <a:pt x="931525" y="18852"/>
                  </a:cubicBezTo>
                  <a:cubicBezTo>
                    <a:pt x="943595" y="30923"/>
                    <a:pt x="950377" y="47294"/>
                    <a:pt x="950377" y="64365"/>
                  </a:cubicBezTo>
                  <a:lnTo>
                    <a:pt x="950377" y="654536"/>
                  </a:lnTo>
                  <a:cubicBezTo>
                    <a:pt x="950377" y="690083"/>
                    <a:pt x="921560" y="718900"/>
                    <a:pt x="886012" y="718900"/>
                  </a:cubicBezTo>
                  <a:lnTo>
                    <a:pt x="64365" y="718900"/>
                  </a:lnTo>
                  <a:cubicBezTo>
                    <a:pt x="47294" y="718900"/>
                    <a:pt x="30923" y="712119"/>
                    <a:pt x="18852" y="700048"/>
                  </a:cubicBezTo>
                  <a:cubicBezTo>
                    <a:pt x="6781" y="687978"/>
                    <a:pt x="0" y="671606"/>
                    <a:pt x="0" y="654536"/>
                  </a:cubicBezTo>
                  <a:lnTo>
                    <a:pt x="0" y="64365"/>
                  </a:lnTo>
                  <a:cubicBezTo>
                    <a:pt x="0" y="47294"/>
                    <a:pt x="6781" y="30923"/>
                    <a:pt x="18852" y="18852"/>
                  </a:cubicBezTo>
                  <a:cubicBezTo>
                    <a:pt x="30923" y="6781"/>
                    <a:pt x="47294" y="0"/>
                    <a:pt x="64365" y="0"/>
                  </a:cubicBezTo>
                  <a:close/>
                </a:path>
              </a:pathLst>
            </a:custGeom>
            <a:solidFill>
              <a:srgbClr val="FFF7EF"/>
            </a:solidFill>
          </p:spPr>
        </p:sp>
        <p:sp>
          <p:nvSpPr>
            <p:cNvPr name="TextBox 10" id="10"/>
            <p:cNvSpPr txBox="true"/>
            <p:nvPr/>
          </p:nvSpPr>
          <p:spPr>
            <a:xfrm>
              <a:off x="0" y="-47625"/>
              <a:ext cx="950377" cy="766525"/>
            </a:xfrm>
            <a:prstGeom prst="rect">
              <a:avLst/>
            </a:prstGeom>
          </p:spPr>
          <p:txBody>
            <a:bodyPr anchor="ctr" rtlCol="false" tIns="50800" lIns="50800" bIns="50800" rIns="50800"/>
            <a:lstStyle/>
            <a:p>
              <a:pPr algn="l">
                <a:lnSpc>
                  <a:spcPts val="3779"/>
                </a:lnSpc>
              </a:pPr>
            </a:p>
          </p:txBody>
        </p:sp>
      </p:grpSp>
      <p:grpSp>
        <p:nvGrpSpPr>
          <p:cNvPr name="Group 11" id="11"/>
          <p:cNvGrpSpPr/>
          <p:nvPr/>
        </p:nvGrpSpPr>
        <p:grpSpPr>
          <a:xfrm rot="0">
            <a:off x="14234675" y="3816122"/>
            <a:ext cx="3608461" cy="2729575"/>
            <a:chOff x="0" y="0"/>
            <a:chExt cx="950377" cy="718900"/>
          </a:xfrm>
        </p:grpSpPr>
        <p:sp>
          <p:nvSpPr>
            <p:cNvPr name="Freeform 12" id="12"/>
            <p:cNvSpPr/>
            <p:nvPr/>
          </p:nvSpPr>
          <p:spPr>
            <a:xfrm flipH="false" flipV="false" rot="0">
              <a:off x="0" y="0"/>
              <a:ext cx="950377" cy="718900"/>
            </a:xfrm>
            <a:custGeom>
              <a:avLst/>
              <a:gdLst/>
              <a:ahLst/>
              <a:cxnLst/>
              <a:rect r="r" b="b" t="t" l="l"/>
              <a:pathLst>
                <a:path h="718900" w="950377">
                  <a:moveTo>
                    <a:pt x="64365" y="0"/>
                  </a:moveTo>
                  <a:lnTo>
                    <a:pt x="886012" y="0"/>
                  </a:lnTo>
                  <a:cubicBezTo>
                    <a:pt x="903082" y="0"/>
                    <a:pt x="919454" y="6781"/>
                    <a:pt x="931525" y="18852"/>
                  </a:cubicBezTo>
                  <a:cubicBezTo>
                    <a:pt x="943595" y="30923"/>
                    <a:pt x="950377" y="47294"/>
                    <a:pt x="950377" y="64365"/>
                  </a:cubicBezTo>
                  <a:lnTo>
                    <a:pt x="950377" y="654536"/>
                  </a:lnTo>
                  <a:cubicBezTo>
                    <a:pt x="950377" y="690083"/>
                    <a:pt x="921560" y="718900"/>
                    <a:pt x="886012" y="718900"/>
                  </a:cubicBezTo>
                  <a:lnTo>
                    <a:pt x="64365" y="718900"/>
                  </a:lnTo>
                  <a:cubicBezTo>
                    <a:pt x="47294" y="718900"/>
                    <a:pt x="30923" y="712119"/>
                    <a:pt x="18852" y="700048"/>
                  </a:cubicBezTo>
                  <a:cubicBezTo>
                    <a:pt x="6781" y="687978"/>
                    <a:pt x="0" y="671606"/>
                    <a:pt x="0" y="654536"/>
                  </a:cubicBezTo>
                  <a:lnTo>
                    <a:pt x="0" y="64365"/>
                  </a:lnTo>
                  <a:cubicBezTo>
                    <a:pt x="0" y="47294"/>
                    <a:pt x="6781" y="30923"/>
                    <a:pt x="18852" y="18852"/>
                  </a:cubicBezTo>
                  <a:cubicBezTo>
                    <a:pt x="30923" y="6781"/>
                    <a:pt x="47294" y="0"/>
                    <a:pt x="64365" y="0"/>
                  </a:cubicBezTo>
                  <a:close/>
                </a:path>
              </a:pathLst>
            </a:custGeom>
            <a:solidFill>
              <a:srgbClr val="FFF7EF"/>
            </a:solidFill>
          </p:spPr>
        </p:sp>
        <p:sp>
          <p:nvSpPr>
            <p:cNvPr name="TextBox 13" id="13"/>
            <p:cNvSpPr txBox="true"/>
            <p:nvPr/>
          </p:nvSpPr>
          <p:spPr>
            <a:xfrm>
              <a:off x="0" y="-47625"/>
              <a:ext cx="950377" cy="766525"/>
            </a:xfrm>
            <a:prstGeom prst="rect">
              <a:avLst/>
            </a:prstGeom>
          </p:spPr>
          <p:txBody>
            <a:bodyPr anchor="ctr" rtlCol="false" tIns="50800" lIns="50800" bIns="50800" rIns="50800"/>
            <a:lstStyle/>
            <a:p>
              <a:pPr algn="l">
                <a:lnSpc>
                  <a:spcPts val="3779"/>
                </a:lnSpc>
              </a:pPr>
            </a:p>
          </p:txBody>
        </p:sp>
      </p:grpSp>
      <p:sp>
        <p:nvSpPr>
          <p:cNvPr name="Freeform 14" id="14"/>
          <p:cNvSpPr/>
          <p:nvPr/>
        </p:nvSpPr>
        <p:spPr>
          <a:xfrm flipH="false" flipV="false" rot="0">
            <a:off x="663524" y="4057037"/>
            <a:ext cx="668578" cy="668578"/>
          </a:xfrm>
          <a:custGeom>
            <a:avLst/>
            <a:gdLst/>
            <a:ahLst/>
            <a:cxnLst/>
            <a:rect r="r" b="b" t="t" l="l"/>
            <a:pathLst>
              <a:path h="668578" w="668578">
                <a:moveTo>
                  <a:pt x="0" y="0"/>
                </a:moveTo>
                <a:lnTo>
                  <a:pt x="668578" y="0"/>
                </a:lnTo>
                <a:lnTo>
                  <a:pt x="668578" y="668577"/>
                </a:lnTo>
                <a:lnTo>
                  <a:pt x="0" y="668577"/>
                </a:lnTo>
                <a:lnTo>
                  <a:pt x="0" y="0"/>
                </a:lnTo>
                <a:close/>
              </a:path>
            </a:pathLst>
          </a:custGeom>
          <a:blipFill>
            <a:blip r:embed="rId2"/>
            <a:stretch>
              <a:fillRect l="0" t="0" r="0" b="0"/>
            </a:stretch>
          </a:blipFill>
        </p:spPr>
      </p:sp>
      <p:sp>
        <p:nvSpPr>
          <p:cNvPr name="Freeform 15" id="15"/>
          <p:cNvSpPr/>
          <p:nvPr/>
        </p:nvSpPr>
        <p:spPr>
          <a:xfrm flipH="false" flipV="false" rot="0">
            <a:off x="5206564" y="3972958"/>
            <a:ext cx="836734" cy="836734"/>
          </a:xfrm>
          <a:custGeom>
            <a:avLst/>
            <a:gdLst/>
            <a:ahLst/>
            <a:cxnLst/>
            <a:rect r="r" b="b" t="t" l="l"/>
            <a:pathLst>
              <a:path h="836734" w="836734">
                <a:moveTo>
                  <a:pt x="0" y="0"/>
                </a:moveTo>
                <a:lnTo>
                  <a:pt x="836735" y="0"/>
                </a:lnTo>
                <a:lnTo>
                  <a:pt x="836735" y="836735"/>
                </a:lnTo>
                <a:lnTo>
                  <a:pt x="0" y="836735"/>
                </a:lnTo>
                <a:lnTo>
                  <a:pt x="0" y="0"/>
                </a:lnTo>
                <a:close/>
              </a:path>
            </a:pathLst>
          </a:custGeom>
          <a:blipFill>
            <a:blip r:embed="rId3"/>
            <a:stretch>
              <a:fillRect l="0" t="0" r="0" b="0"/>
            </a:stretch>
          </a:blipFill>
        </p:spPr>
      </p:sp>
      <p:sp>
        <p:nvSpPr>
          <p:cNvPr name="Freeform 16" id="16"/>
          <p:cNvSpPr/>
          <p:nvPr/>
        </p:nvSpPr>
        <p:spPr>
          <a:xfrm flipH="false" flipV="false" rot="0">
            <a:off x="9766023" y="3979686"/>
            <a:ext cx="745928" cy="745928"/>
          </a:xfrm>
          <a:custGeom>
            <a:avLst/>
            <a:gdLst/>
            <a:ahLst/>
            <a:cxnLst/>
            <a:rect r="r" b="b" t="t" l="l"/>
            <a:pathLst>
              <a:path h="745928" w="745928">
                <a:moveTo>
                  <a:pt x="0" y="0"/>
                </a:moveTo>
                <a:lnTo>
                  <a:pt x="745928" y="0"/>
                </a:lnTo>
                <a:lnTo>
                  <a:pt x="745928" y="745928"/>
                </a:lnTo>
                <a:lnTo>
                  <a:pt x="0" y="745928"/>
                </a:lnTo>
                <a:lnTo>
                  <a:pt x="0" y="0"/>
                </a:lnTo>
                <a:close/>
              </a:path>
            </a:pathLst>
          </a:custGeom>
          <a:blipFill>
            <a:blip r:embed="rId4"/>
            <a:stretch>
              <a:fillRect l="0" t="0" r="0" b="0"/>
            </a:stretch>
          </a:blipFill>
        </p:spPr>
      </p:sp>
      <p:sp>
        <p:nvSpPr>
          <p:cNvPr name="Freeform 17" id="17"/>
          <p:cNvSpPr/>
          <p:nvPr/>
        </p:nvSpPr>
        <p:spPr>
          <a:xfrm flipH="false" flipV="false" rot="0">
            <a:off x="14410836" y="3979686"/>
            <a:ext cx="745928" cy="745928"/>
          </a:xfrm>
          <a:custGeom>
            <a:avLst/>
            <a:gdLst/>
            <a:ahLst/>
            <a:cxnLst/>
            <a:rect r="r" b="b" t="t" l="l"/>
            <a:pathLst>
              <a:path h="745928" w="745928">
                <a:moveTo>
                  <a:pt x="0" y="0"/>
                </a:moveTo>
                <a:lnTo>
                  <a:pt x="745928" y="0"/>
                </a:lnTo>
                <a:lnTo>
                  <a:pt x="745928" y="745928"/>
                </a:lnTo>
                <a:lnTo>
                  <a:pt x="0" y="745928"/>
                </a:lnTo>
                <a:lnTo>
                  <a:pt x="0" y="0"/>
                </a:lnTo>
                <a:close/>
              </a:path>
            </a:pathLst>
          </a:custGeom>
          <a:blipFill>
            <a:blip r:embed="rId5"/>
            <a:stretch>
              <a:fillRect l="0" t="0" r="0" b="0"/>
            </a:stretch>
          </a:blipFill>
        </p:spPr>
      </p:sp>
      <p:sp>
        <p:nvSpPr>
          <p:cNvPr name="TextBox 18" id="18"/>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19" id="19"/>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October 2026</a:t>
            </a:r>
          </a:p>
        </p:txBody>
      </p:sp>
      <p:sp>
        <p:nvSpPr>
          <p:cNvPr name="TextBox 20" id="20"/>
          <p:cNvSpPr txBox="true"/>
          <p:nvPr/>
        </p:nvSpPr>
        <p:spPr>
          <a:xfrm rot="0">
            <a:off x="663524" y="2294657"/>
            <a:ext cx="19400100" cy="840359"/>
          </a:xfrm>
          <a:prstGeom prst="rect">
            <a:avLst/>
          </a:prstGeom>
        </p:spPr>
        <p:txBody>
          <a:bodyPr anchor="t" rtlCol="false" tIns="0" lIns="0" bIns="0" rIns="0">
            <a:spAutoFit/>
          </a:bodyPr>
          <a:lstStyle/>
          <a:p>
            <a:pPr algn="l">
              <a:lnSpc>
                <a:spcPts val="6298"/>
              </a:lnSpc>
            </a:pPr>
            <a:r>
              <a:rPr lang="en-US" b="true" sz="6700" spc="-281">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SUMBER DATA</a:t>
            </a:r>
          </a:p>
        </p:txBody>
      </p:sp>
      <p:sp>
        <p:nvSpPr>
          <p:cNvPr name="TextBox 21" id="21"/>
          <p:cNvSpPr txBox="true"/>
          <p:nvPr/>
        </p:nvSpPr>
        <p:spPr>
          <a:xfrm rot="0">
            <a:off x="376043" y="4811339"/>
            <a:ext cx="3608461" cy="662941"/>
          </a:xfrm>
          <a:prstGeom prst="rect">
            <a:avLst/>
          </a:prstGeom>
        </p:spPr>
        <p:txBody>
          <a:bodyPr anchor="t" rtlCol="false" tIns="0" lIns="0" bIns="0" rIns="0">
            <a:spAutoFit/>
          </a:bodyPr>
          <a:lstStyle/>
          <a:p>
            <a:pPr algn="ctr">
              <a:lnSpc>
                <a:spcPts val="5459"/>
              </a:lnSpc>
              <a:spcBef>
                <a:spcPct val="0"/>
              </a:spcBef>
            </a:pPr>
            <a:r>
              <a:rPr lang="en-US" b="true" sz="3899" spc="-171">
                <a:solidFill>
                  <a:srgbClr val="19662E"/>
                </a:solidFill>
                <a:latin typeface="Inter Bold"/>
                <a:ea typeface="Inter Bold"/>
                <a:cs typeface="Inter Bold"/>
                <a:sym typeface="Inter Bold"/>
              </a:rPr>
              <a:t>3.444</a:t>
            </a:r>
          </a:p>
        </p:txBody>
      </p:sp>
      <p:sp>
        <p:nvSpPr>
          <p:cNvPr name="TextBox 22" id="22"/>
          <p:cNvSpPr txBox="true"/>
          <p:nvPr/>
        </p:nvSpPr>
        <p:spPr>
          <a:xfrm rot="0">
            <a:off x="769086" y="5585522"/>
            <a:ext cx="2822375" cy="824865"/>
          </a:xfrm>
          <a:prstGeom prst="rect">
            <a:avLst/>
          </a:prstGeom>
        </p:spPr>
        <p:txBody>
          <a:bodyPr anchor="t" rtlCol="false" tIns="0" lIns="0" bIns="0" rIns="0">
            <a:spAutoFit/>
          </a:bodyPr>
          <a:lstStyle/>
          <a:p>
            <a:pPr algn="ctr">
              <a:lnSpc>
                <a:spcPts val="3359"/>
              </a:lnSpc>
              <a:spcBef>
                <a:spcPct val="0"/>
              </a:spcBef>
            </a:pPr>
            <a:r>
              <a:rPr lang="en-US" sz="2399" spc="-105">
                <a:solidFill>
                  <a:srgbClr val="19662E"/>
                </a:solidFill>
                <a:latin typeface="Inter"/>
                <a:ea typeface="Inter"/>
                <a:cs typeface="Inter"/>
                <a:sym typeface="Inter"/>
              </a:rPr>
              <a:t>kejadian BNPB 2025 (9 file Excel)</a:t>
            </a:r>
          </a:p>
        </p:txBody>
      </p:sp>
      <p:sp>
        <p:nvSpPr>
          <p:cNvPr name="TextBox 23" id="23"/>
          <p:cNvSpPr txBox="true"/>
          <p:nvPr/>
        </p:nvSpPr>
        <p:spPr>
          <a:xfrm rot="0">
            <a:off x="5319772" y="5585522"/>
            <a:ext cx="2822375" cy="824865"/>
          </a:xfrm>
          <a:prstGeom prst="rect">
            <a:avLst/>
          </a:prstGeom>
        </p:spPr>
        <p:txBody>
          <a:bodyPr anchor="t" rtlCol="false" tIns="0" lIns="0" bIns="0" rIns="0">
            <a:spAutoFit/>
          </a:bodyPr>
          <a:lstStyle/>
          <a:p>
            <a:pPr algn="ctr">
              <a:lnSpc>
                <a:spcPts val="3359"/>
              </a:lnSpc>
              <a:spcBef>
                <a:spcPct val="0"/>
              </a:spcBef>
            </a:pPr>
            <a:r>
              <a:rPr lang="en-US" sz="2399" spc="-105">
                <a:solidFill>
                  <a:srgbClr val="19662E"/>
                </a:solidFill>
                <a:latin typeface="Inter"/>
                <a:ea typeface="Inter"/>
                <a:cs typeface="Inter"/>
                <a:sym typeface="Inter"/>
              </a:rPr>
              <a:t>Kabupaten/ Kota di Indonesia</a:t>
            </a:r>
          </a:p>
        </p:txBody>
      </p:sp>
      <p:sp>
        <p:nvSpPr>
          <p:cNvPr name="TextBox 24" id="24"/>
          <p:cNvSpPr txBox="true"/>
          <p:nvPr/>
        </p:nvSpPr>
        <p:spPr>
          <a:xfrm rot="0">
            <a:off x="4926729" y="4773930"/>
            <a:ext cx="3608461" cy="662941"/>
          </a:xfrm>
          <a:prstGeom prst="rect">
            <a:avLst/>
          </a:prstGeom>
        </p:spPr>
        <p:txBody>
          <a:bodyPr anchor="t" rtlCol="false" tIns="0" lIns="0" bIns="0" rIns="0">
            <a:spAutoFit/>
          </a:bodyPr>
          <a:lstStyle/>
          <a:p>
            <a:pPr algn="ctr">
              <a:lnSpc>
                <a:spcPts val="5459"/>
              </a:lnSpc>
              <a:spcBef>
                <a:spcPct val="0"/>
              </a:spcBef>
            </a:pPr>
            <a:r>
              <a:rPr lang="en-US" b="true" sz="3899" spc="-171">
                <a:solidFill>
                  <a:srgbClr val="19662E"/>
                </a:solidFill>
                <a:latin typeface="Inter Bold"/>
                <a:ea typeface="Inter Bold"/>
                <a:cs typeface="Inter Bold"/>
                <a:sym typeface="Inter Bold"/>
              </a:rPr>
              <a:t>514</a:t>
            </a:r>
          </a:p>
        </p:txBody>
      </p:sp>
      <p:sp>
        <p:nvSpPr>
          <p:cNvPr name="TextBox 25" id="25"/>
          <p:cNvSpPr txBox="true"/>
          <p:nvPr/>
        </p:nvSpPr>
        <p:spPr>
          <a:xfrm rot="0">
            <a:off x="9477416" y="4649414"/>
            <a:ext cx="3608461" cy="662941"/>
          </a:xfrm>
          <a:prstGeom prst="rect">
            <a:avLst/>
          </a:prstGeom>
        </p:spPr>
        <p:txBody>
          <a:bodyPr anchor="t" rtlCol="false" tIns="0" lIns="0" bIns="0" rIns="0">
            <a:spAutoFit/>
          </a:bodyPr>
          <a:lstStyle/>
          <a:p>
            <a:pPr algn="ctr">
              <a:lnSpc>
                <a:spcPts val="5459"/>
              </a:lnSpc>
              <a:spcBef>
                <a:spcPct val="0"/>
              </a:spcBef>
            </a:pPr>
            <a:r>
              <a:rPr lang="en-US" b="true" sz="3899" spc="-171">
                <a:solidFill>
                  <a:srgbClr val="19662E"/>
                </a:solidFill>
                <a:latin typeface="Inter Bold"/>
                <a:ea typeface="Inter Bold"/>
                <a:cs typeface="Inter Bold"/>
                <a:sym typeface="Inter Bold"/>
              </a:rPr>
              <a:t>43</a:t>
            </a:r>
          </a:p>
        </p:txBody>
      </p:sp>
      <p:sp>
        <p:nvSpPr>
          <p:cNvPr name="TextBox 26" id="26"/>
          <p:cNvSpPr txBox="true"/>
          <p:nvPr/>
        </p:nvSpPr>
        <p:spPr>
          <a:xfrm rot="0">
            <a:off x="9673938" y="5502855"/>
            <a:ext cx="3215418" cy="858012"/>
          </a:xfrm>
          <a:prstGeom prst="rect">
            <a:avLst/>
          </a:prstGeom>
        </p:spPr>
        <p:txBody>
          <a:bodyPr anchor="t" rtlCol="false" tIns="0" lIns="0" bIns="0" rIns="0">
            <a:spAutoFit/>
          </a:bodyPr>
          <a:lstStyle/>
          <a:p>
            <a:pPr algn="ctr">
              <a:lnSpc>
                <a:spcPts val="2289"/>
              </a:lnSpc>
              <a:spcBef>
                <a:spcPct val="0"/>
              </a:spcBef>
            </a:pPr>
            <a:r>
              <a:rPr lang="en-US" sz="2100" spc="-92">
                <a:solidFill>
                  <a:srgbClr val="19662E"/>
                </a:solidFill>
                <a:latin typeface="Inter"/>
                <a:ea typeface="Inter"/>
                <a:cs typeface="Inter"/>
                <a:sym typeface="Inter"/>
              </a:rPr>
              <a:t>postingan x (twitter) berdasarkan wilayah dan jenis bencana</a:t>
            </a:r>
          </a:p>
        </p:txBody>
      </p:sp>
      <p:sp>
        <p:nvSpPr>
          <p:cNvPr name="TextBox 27" id="27"/>
          <p:cNvSpPr txBox="true"/>
          <p:nvPr/>
        </p:nvSpPr>
        <p:spPr>
          <a:xfrm rot="0">
            <a:off x="14234675" y="4733493"/>
            <a:ext cx="3608461" cy="662941"/>
          </a:xfrm>
          <a:prstGeom prst="rect">
            <a:avLst/>
          </a:prstGeom>
        </p:spPr>
        <p:txBody>
          <a:bodyPr anchor="t" rtlCol="false" tIns="0" lIns="0" bIns="0" rIns="0">
            <a:spAutoFit/>
          </a:bodyPr>
          <a:lstStyle/>
          <a:p>
            <a:pPr algn="ctr">
              <a:lnSpc>
                <a:spcPts val="5459"/>
              </a:lnSpc>
              <a:spcBef>
                <a:spcPct val="0"/>
              </a:spcBef>
            </a:pPr>
            <a:r>
              <a:rPr lang="en-US" b="true" sz="3899" spc="-171">
                <a:solidFill>
                  <a:srgbClr val="19662E"/>
                </a:solidFill>
                <a:latin typeface="Inter Bold"/>
                <a:ea typeface="Inter Bold"/>
                <a:cs typeface="Inter Bold"/>
                <a:sym typeface="Inter Bold"/>
              </a:rPr>
              <a:t>38 Provinsi</a:t>
            </a:r>
          </a:p>
        </p:txBody>
      </p:sp>
      <p:sp>
        <p:nvSpPr>
          <p:cNvPr name="TextBox 28" id="28"/>
          <p:cNvSpPr txBox="true"/>
          <p:nvPr/>
        </p:nvSpPr>
        <p:spPr>
          <a:xfrm rot="0">
            <a:off x="14431196" y="5552375"/>
            <a:ext cx="3215418" cy="858012"/>
          </a:xfrm>
          <a:prstGeom prst="rect">
            <a:avLst/>
          </a:prstGeom>
        </p:spPr>
        <p:txBody>
          <a:bodyPr anchor="t" rtlCol="false" tIns="0" lIns="0" bIns="0" rIns="0">
            <a:spAutoFit/>
          </a:bodyPr>
          <a:lstStyle/>
          <a:p>
            <a:pPr algn="ctr">
              <a:lnSpc>
                <a:spcPts val="2289"/>
              </a:lnSpc>
            </a:pPr>
            <a:r>
              <a:rPr lang="en-US" sz="2100" spc="-92">
                <a:solidFill>
                  <a:srgbClr val="19662E"/>
                </a:solidFill>
                <a:latin typeface="Inter"/>
                <a:ea typeface="Inter"/>
                <a:cs typeface="Inter"/>
                <a:sym typeface="Inter"/>
              </a:rPr>
              <a:t>batas wilayah untuk peta (GeoJSON)</a:t>
            </a:r>
          </a:p>
          <a:p>
            <a:pPr algn="ctr">
              <a:lnSpc>
                <a:spcPts val="2289"/>
              </a:lnSpc>
              <a:spcBef>
                <a:spcPct val="0"/>
              </a:spcBef>
            </a:pPr>
          </a:p>
        </p:txBody>
      </p:sp>
      <p:sp>
        <p:nvSpPr>
          <p:cNvPr name="TextBox 29" id="29"/>
          <p:cNvSpPr txBox="true"/>
          <p:nvPr/>
        </p:nvSpPr>
        <p:spPr>
          <a:xfrm rot="0">
            <a:off x="769086" y="7715249"/>
            <a:ext cx="10681990" cy="1543051"/>
          </a:xfrm>
          <a:prstGeom prst="rect">
            <a:avLst/>
          </a:prstGeom>
        </p:spPr>
        <p:txBody>
          <a:bodyPr anchor="t" rtlCol="false" tIns="0" lIns="0" bIns="0" rIns="0">
            <a:spAutoFit/>
          </a:bodyPr>
          <a:lstStyle/>
          <a:p>
            <a:pPr algn="l">
              <a:lnSpc>
                <a:spcPts val="4199"/>
              </a:lnSpc>
              <a:spcBef>
                <a:spcPct val="0"/>
              </a:spcBef>
            </a:pPr>
            <a:r>
              <a:rPr lang="en-US" sz="2999" spc="-131">
                <a:solidFill>
                  <a:srgbClr val="19662E"/>
                </a:solidFill>
                <a:latin typeface="Inter"/>
                <a:ea typeface="Inter"/>
                <a:cs typeface="Inter"/>
                <a:sym typeface="Inter"/>
              </a:rPr>
              <a:t>•Kejadian BNPB berisi tanggal, lokasi, jenis, korban, dan kerusakan</a:t>
            </a:r>
          </a:p>
          <a:p>
            <a:pPr algn="l">
              <a:lnSpc>
                <a:spcPts val="4199"/>
              </a:lnSpc>
              <a:spcBef>
                <a:spcPct val="0"/>
              </a:spcBef>
            </a:pPr>
            <a:r>
              <a:rPr lang="en-US" sz="2999" spc="-131">
                <a:solidFill>
                  <a:srgbClr val="19662E"/>
                </a:solidFill>
                <a:latin typeface="Inter"/>
                <a:ea typeface="Inter"/>
                <a:cs typeface="Inter"/>
                <a:sym typeface="Inter"/>
              </a:rPr>
              <a:t>•Semua sumber dihubungkan lewat kode kabupaten/kota</a:t>
            </a:r>
          </a:p>
          <a:p>
            <a:pPr algn="l">
              <a:lnSpc>
                <a:spcPts val="4199"/>
              </a:lnSpc>
              <a:spcBef>
                <a:spcPct val="0"/>
              </a:spcBef>
            </a:pPr>
            <a:r>
              <a:rPr lang="en-US" sz="2999" spc="-131">
                <a:solidFill>
                  <a:srgbClr val="19662E"/>
                </a:solidFill>
                <a:latin typeface="Inter"/>
                <a:ea typeface="Inter"/>
                <a:cs typeface="Inter"/>
                <a:sym typeface="Inter"/>
              </a:rPr>
              <a:t>•Data peta hanya untuk visual, tidak disimpan di database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sp>
        <p:nvSpPr>
          <p:cNvPr name="Freeform 2" id="2"/>
          <p:cNvSpPr/>
          <p:nvPr/>
        </p:nvSpPr>
        <p:spPr>
          <a:xfrm flipH="false" flipV="false" rot="0">
            <a:off x="710159" y="4168438"/>
            <a:ext cx="16867681" cy="1834360"/>
          </a:xfrm>
          <a:custGeom>
            <a:avLst/>
            <a:gdLst/>
            <a:ahLst/>
            <a:cxnLst/>
            <a:rect r="r" b="b" t="t" l="l"/>
            <a:pathLst>
              <a:path h="1834360" w="16867681">
                <a:moveTo>
                  <a:pt x="0" y="0"/>
                </a:moveTo>
                <a:lnTo>
                  <a:pt x="16867682" y="0"/>
                </a:lnTo>
                <a:lnTo>
                  <a:pt x="16867682" y="1834360"/>
                </a:lnTo>
                <a:lnTo>
                  <a:pt x="0" y="1834360"/>
                </a:lnTo>
                <a:lnTo>
                  <a:pt x="0" y="0"/>
                </a:lnTo>
                <a:close/>
              </a:path>
            </a:pathLst>
          </a:custGeom>
          <a:blipFill>
            <a:blip r:embed="rId2"/>
            <a:stretch>
              <a:fillRect l="0" t="0" r="0" b="0"/>
            </a:stretch>
          </a:blipFill>
        </p:spPr>
      </p:sp>
      <p:sp>
        <p:nvSpPr>
          <p:cNvPr name="TextBox 3" id="3"/>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4" id="4"/>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a:t>
            </a:r>
            <a:r>
              <a:rPr lang="en-US" sz="2000" spc="-88">
                <a:solidFill>
                  <a:srgbClr val="19662E"/>
                </a:solidFill>
                <a:latin typeface="Inter"/>
                <a:ea typeface="Inter"/>
                <a:cs typeface="Inter"/>
                <a:sym typeface="Inter"/>
              </a:rPr>
              <a:t>October 2026</a:t>
            </a:r>
          </a:p>
        </p:txBody>
      </p:sp>
      <p:sp>
        <p:nvSpPr>
          <p:cNvPr name="TextBox 5" id="5"/>
          <p:cNvSpPr txBox="true"/>
          <p:nvPr/>
        </p:nvSpPr>
        <p:spPr>
          <a:xfrm rot="0">
            <a:off x="1028700" y="2099821"/>
            <a:ext cx="8732913" cy="878840"/>
          </a:xfrm>
          <a:prstGeom prst="rect">
            <a:avLst/>
          </a:prstGeom>
        </p:spPr>
        <p:txBody>
          <a:bodyPr anchor="t" rtlCol="false" tIns="0" lIns="0" bIns="0" rIns="0">
            <a:spAutoFit/>
          </a:bodyPr>
          <a:lstStyle/>
          <a:p>
            <a:pPr algn="l">
              <a:lnSpc>
                <a:spcPts val="6579"/>
              </a:lnSpc>
            </a:pPr>
            <a:r>
              <a:rPr lang="en-US" b="true" sz="6999" spc="-293">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ALUR KERJA</a:t>
            </a:r>
          </a:p>
        </p:txBody>
      </p:sp>
      <p:sp>
        <p:nvSpPr>
          <p:cNvPr name="TextBox 6" id="6"/>
          <p:cNvSpPr txBox="true"/>
          <p:nvPr/>
        </p:nvSpPr>
        <p:spPr>
          <a:xfrm rot="0">
            <a:off x="2039065" y="6810061"/>
            <a:ext cx="14261438" cy="1967230"/>
          </a:xfrm>
          <a:prstGeom prst="rect">
            <a:avLst/>
          </a:prstGeom>
        </p:spPr>
        <p:txBody>
          <a:bodyPr anchor="t" rtlCol="false" tIns="0" lIns="0" bIns="0" rIns="0">
            <a:spAutoFit/>
          </a:bodyPr>
          <a:lstStyle/>
          <a:p>
            <a:pPr algn="just">
              <a:lnSpc>
                <a:spcPts val="3919"/>
              </a:lnSpc>
              <a:spcBef>
                <a:spcPct val="0"/>
              </a:spcBef>
            </a:pPr>
            <a:r>
              <a:rPr lang="en-US" sz="2799" spc="-123">
                <a:solidFill>
                  <a:srgbClr val="19662E"/>
                </a:solidFill>
                <a:latin typeface="Inter"/>
                <a:ea typeface="Inter"/>
                <a:cs typeface="Inter"/>
                <a:sym typeface="Inter"/>
              </a:rPr>
              <a:t>Alur kerja dimulai dari pengumpulan data mentah dalam format CSV dan Excel. Selanjutnya, data diolah menggunakan DuckDB melalui SQL untuk membersihkan, menggabungkan, dan meringkas data. Hasil pengolahan disimpan dalam empat file database, kemudian disajikan dalam bentuk dashboard interaktif agar hasil analisis kejadian bencana lebih mudah dipahami.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624981" y="3169189"/>
            <a:ext cx="10466033" cy="3952772"/>
            <a:chOff x="0" y="0"/>
            <a:chExt cx="2756486" cy="1041059"/>
          </a:xfrm>
        </p:grpSpPr>
        <p:sp>
          <p:nvSpPr>
            <p:cNvPr name="Freeform 3" id="3"/>
            <p:cNvSpPr/>
            <p:nvPr/>
          </p:nvSpPr>
          <p:spPr>
            <a:xfrm flipH="false" flipV="false" rot="0">
              <a:off x="0" y="0"/>
              <a:ext cx="2756486" cy="1041059"/>
            </a:xfrm>
            <a:custGeom>
              <a:avLst/>
              <a:gdLst/>
              <a:ahLst/>
              <a:cxnLst/>
              <a:rect r="r" b="b" t="t" l="l"/>
              <a:pathLst>
                <a:path h="1041059" w="2756486">
                  <a:moveTo>
                    <a:pt x="22192" y="0"/>
                  </a:moveTo>
                  <a:lnTo>
                    <a:pt x="2734295" y="0"/>
                  </a:lnTo>
                  <a:cubicBezTo>
                    <a:pt x="2740180" y="0"/>
                    <a:pt x="2745824" y="2338"/>
                    <a:pt x="2749986" y="6500"/>
                  </a:cubicBezTo>
                  <a:cubicBezTo>
                    <a:pt x="2754148" y="10661"/>
                    <a:pt x="2756486" y="16306"/>
                    <a:pt x="2756486" y="22192"/>
                  </a:cubicBezTo>
                  <a:lnTo>
                    <a:pt x="2756486" y="1018868"/>
                  </a:lnTo>
                  <a:cubicBezTo>
                    <a:pt x="2756486" y="1031124"/>
                    <a:pt x="2746551" y="1041059"/>
                    <a:pt x="2734295" y="1041059"/>
                  </a:cubicBezTo>
                  <a:lnTo>
                    <a:pt x="22192" y="1041059"/>
                  </a:lnTo>
                  <a:cubicBezTo>
                    <a:pt x="9935" y="1041059"/>
                    <a:pt x="0" y="1031124"/>
                    <a:pt x="0" y="1018868"/>
                  </a:cubicBezTo>
                  <a:lnTo>
                    <a:pt x="0" y="22192"/>
                  </a:lnTo>
                  <a:cubicBezTo>
                    <a:pt x="0" y="9935"/>
                    <a:pt x="9935" y="0"/>
                    <a:pt x="22192" y="0"/>
                  </a:cubicBezTo>
                  <a:close/>
                </a:path>
              </a:pathLst>
            </a:custGeom>
            <a:solidFill>
              <a:srgbClr val="FFF7EF"/>
            </a:solidFill>
          </p:spPr>
        </p:sp>
        <p:sp>
          <p:nvSpPr>
            <p:cNvPr name="TextBox 4" id="4"/>
            <p:cNvSpPr txBox="true"/>
            <p:nvPr/>
          </p:nvSpPr>
          <p:spPr>
            <a:xfrm>
              <a:off x="0" y="-47625"/>
              <a:ext cx="2756486" cy="1088684"/>
            </a:xfrm>
            <a:prstGeom prst="rect">
              <a:avLst/>
            </a:prstGeom>
          </p:spPr>
          <p:txBody>
            <a:bodyPr anchor="ctr" rtlCol="false" tIns="50800" lIns="50800" bIns="50800" rIns="50800"/>
            <a:lstStyle/>
            <a:p>
              <a:pPr algn="ctr">
                <a:lnSpc>
                  <a:spcPts val="2800"/>
                </a:lnSpc>
              </a:pPr>
            </a:p>
          </p:txBody>
        </p:sp>
      </p:grpSp>
      <p:graphicFrame>
        <p:nvGraphicFramePr>
          <p:cNvPr name="Object 5" id="5"/>
          <p:cNvGraphicFramePr/>
          <p:nvPr/>
        </p:nvGraphicFramePr>
        <p:xfrm>
          <a:off x="1028700" y="3573950"/>
          <a:ext cx="10701338" cy="3143250"/>
        </p:xfrm>
        <a:graphic>
          <a:graphicData uri="http://schemas.openxmlformats.org/presentationml/2006/ole">
            <p:oleObj imgW="12839700" imgH="5283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7" id="7"/>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a:t>
            </a:r>
            <a:r>
              <a:rPr lang="en-US" sz="2000" spc="-88">
                <a:solidFill>
                  <a:srgbClr val="19662E"/>
                </a:solidFill>
                <a:latin typeface="Inter"/>
                <a:ea typeface="Inter"/>
                <a:cs typeface="Inter"/>
                <a:sym typeface="Inter"/>
              </a:rPr>
              <a:t>October 2026</a:t>
            </a:r>
          </a:p>
        </p:txBody>
      </p:sp>
      <p:sp>
        <p:nvSpPr>
          <p:cNvPr name="TextBox 8" id="8"/>
          <p:cNvSpPr txBox="true"/>
          <p:nvPr/>
        </p:nvSpPr>
        <p:spPr>
          <a:xfrm rot="0">
            <a:off x="1028700" y="1900824"/>
            <a:ext cx="15271931" cy="878840"/>
          </a:xfrm>
          <a:prstGeom prst="rect">
            <a:avLst/>
          </a:prstGeom>
        </p:spPr>
        <p:txBody>
          <a:bodyPr anchor="t" rtlCol="false" tIns="0" lIns="0" bIns="0" rIns="0">
            <a:spAutoFit/>
          </a:bodyPr>
          <a:lstStyle/>
          <a:p>
            <a:pPr algn="l">
              <a:lnSpc>
                <a:spcPts val="6579"/>
              </a:lnSpc>
            </a:pPr>
            <a:r>
              <a:rPr lang="en-US" b="true" sz="6999" spc="-293">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PENGOLAHAN DATA DI DUCK DB</a:t>
            </a:r>
          </a:p>
        </p:txBody>
      </p:sp>
      <p:sp>
        <p:nvSpPr>
          <p:cNvPr name="TextBox 9" id="9"/>
          <p:cNvSpPr txBox="true"/>
          <p:nvPr/>
        </p:nvSpPr>
        <p:spPr>
          <a:xfrm rot="0">
            <a:off x="2559461" y="7464861"/>
            <a:ext cx="13169078" cy="2066926"/>
          </a:xfrm>
          <a:prstGeom prst="rect">
            <a:avLst/>
          </a:prstGeom>
        </p:spPr>
        <p:txBody>
          <a:bodyPr anchor="t" rtlCol="false" tIns="0" lIns="0" bIns="0" rIns="0">
            <a:spAutoFit/>
          </a:bodyPr>
          <a:lstStyle/>
          <a:p>
            <a:pPr algn="ctr">
              <a:lnSpc>
                <a:spcPts val="4199"/>
              </a:lnSpc>
              <a:spcBef>
                <a:spcPct val="0"/>
              </a:spcBef>
            </a:pPr>
            <a:r>
              <a:rPr lang="en-US" sz="2999" spc="-131">
                <a:solidFill>
                  <a:srgbClr val="19662E"/>
                </a:solidFill>
                <a:latin typeface="Inter"/>
                <a:ea typeface="Inter"/>
                <a:cs typeface="Inter"/>
                <a:sym typeface="Inter"/>
              </a:rPr>
              <a:t>DuckDB digunakan untuk mengolah data BNPB, data wilayah, dan data Twitter. Operasi SQL digunakan untuk membersihkan, menggabungkan, serta merekapitulasi data berdasarkan jenis bencana dan wilayah. Hasil pengolahan kemudian disiapkan sebagai sumber visualisasi pada dashboard.</a:t>
            </a:r>
          </a:p>
        </p:txBody>
      </p:sp>
      <p:sp>
        <p:nvSpPr>
          <p:cNvPr name="TextBox 10" id="10"/>
          <p:cNvSpPr txBox="true"/>
          <p:nvPr/>
        </p:nvSpPr>
        <p:spPr>
          <a:xfrm rot="0">
            <a:off x="11375398" y="3851825"/>
            <a:ext cx="6628217" cy="2865375"/>
          </a:xfrm>
          <a:prstGeom prst="rect">
            <a:avLst/>
          </a:prstGeom>
        </p:spPr>
        <p:txBody>
          <a:bodyPr anchor="t" rtlCol="false" tIns="0" lIns="0" bIns="0" rIns="0">
            <a:spAutoFit/>
          </a:bodyPr>
          <a:lstStyle/>
          <a:p>
            <a:pPr algn="l">
              <a:lnSpc>
                <a:spcPts val="4647"/>
              </a:lnSpc>
              <a:spcBef>
                <a:spcPct val="0"/>
              </a:spcBef>
            </a:pPr>
            <a:r>
              <a:rPr lang="en-US" sz="2799" spc="-123">
                <a:solidFill>
                  <a:srgbClr val="19662E"/>
                </a:solidFill>
                <a:latin typeface="Inter"/>
                <a:ea typeface="Inter"/>
                <a:cs typeface="Inter"/>
                <a:sym typeface="Inter"/>
              </a:rPr>
              <a:t>•Pembersihan: WHERE</a:t>
            </a:r>
          </a:p>
          <a:p>
            <a:pPr algn="l">
              <a:lnSpc>
                <a:spcPts val="4647"/>
              </a:lnSpc>
              <a:spcBef>
                <a:spcPct val="0"/>
              </a:spcBef>
            </a:pPr>
            <a:r>
              <a:rPr lang="en-US" sz="2799" spc="-123">
                <a:solidFill>
                  <a:srgbClr val="19662E"/>
                </a:solidFill>
                <a:latin typeface="Inter"/>
                <a:ea typeface="Inter"/>
                <a:cs typeface="Inter"/>
                <a:sym typeface="Inter"/>
              </a:rPr>
              <a:t>•Penggabungan: JOIN</a:t>
            </a:r>
          </a:p>
          <a:p>
            <a:pPr algn="l">
              <a:lnSpc>
                <a:spcPts val="4647"/>
              </a:lnSpc>
              <a:spcBef>
                <a:spcPct val="0"/>
              </a:spcBef>
            </a:pPr>
            <a:r>
              <a:rPr lang="en-US" sz="2799" spc="-123">
                <a:solidFill>
                  <a:srgbClr val="19662E"/>
                </a:solidFill>
                <a:latin typeface="Inter"/>
                <a:ea typeface="Inter"/>
                <a:cs typeface="Inter"/>
                <a:sym typeface="Inter"/>
              </a:rPr>
              <a:t>•Rekap: GROUP BY</a:t>
            </a:r>
          </a:p>
          <a:p>
            <a:pPr algn="l">
              <a:lnSpc>
                <a:spcPts val="4647"/>
              </a:lnSpc>
              <a:spcBef>
                <a:spcPct val="0"/>
              </a:spcBef>
            </a:pPr>
            <a:r>
              <a:rPr lang="en-US" sz="2799" spc="-123">
                <a:solidFill>
                  <a:srgbClr val="19662E"/>
                </a:solidFill>
                <a:latin typeface="Inter"/>
                <a:ea typeface="Inter"/>
                <a:cs typeface="Inter"/>
                <a:sym typeface="Inter"/>
              </a:rPr>
              <a:t>•Perbandingan sumber: FULL OUTER JOIN</a:t>
            </a:r>
          </a:p>
          <a:p>
            <a:pPr algn="l">
              <a:lnSpc>
                <a:spcPts val="4647"/>
              </a:lnSpc>
              <a:spcBef>
                <a:spcPct val="0"/>
              </a:spcBef>
            </a:pPr>
            <a:r>
              <a:rPr lang="en-US" sz="2799" spc="-123">
                <a:solidFill>
                  <a:srgbClr val="19662E"/>
                </a:solidFill>
                <a:latin typeface="Inter"/>
                <a:ea typeface="Inter"/>
                <a:cs typeface="Inter"/>
                <a:sym typeface="Inter"/>
              </a:rPr>
              <a:t>•Hubungan antar file: ATTACH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sp>
        <p:nvSpPr>
          <p:cNvPr name="Freeform 2" id="2"/>
          <p:cNvSpPr/>
          <p:nvPr/>
        </p:nvSpPr>
        <p:spPr>
          <a:xfrm flipH="false" flipV="false" rot="0">
            <a:off x="615372" y="8104136"/>
            <a:ext cx="2829803" cy="1551827"/>
          </a:xfrm>
          <a:custGeom>
            <a:avLst/>
            <a:gdLst/>
            <a:ahLst/>
            <a:cxnLst/>
            <a:rect r="r" b="b" t="t" l="l"/>
            <a:pathLst>
              <a:path h="1551827" w="2829803">
                <a:moveTo>
                  <a:pt x="0" y="0"/>
                </a:moveTo>
                <a:lnTo>
                  <a:pt x="2829802" y="0"/>
                </a:lnTo>
                <a:lnTo>
                  <a:pt x="2829802" y="1551827"/>
                </a:lnTo>
                <a:lnTo>
                  <a:pt x="0" y="1551827"/>
                </a:lnTo>
                <a:lnTo>
                  <a:pt x="0" y="0"/>
                </a:lnTo>
                <a:close/>
              </a:path>
            </a:pathLst>
          </a:custGeom>
          <a:blipFill>
            <a:blip r:embed="rId2"/>
            <a:stretch>
              <a:fillRect l="0" t="0" r="0" b="0"/>
            </a:stretch>
          </a:blipFill>
        </p:spPr>
      </p:sp>
      <p:sp>
        <p:nvSpPr>
          <p:cNvPr name="Freeform 3" id="3"/>
          <p:cNvSpPr/>
          <p:nvPr/>
        </p:nvSpPr>
        <p:spPr>
          <a:xfrm flipH="false" flipV="false" rot="0">
            <a:off x="15480763" y="8104136"/>
            <a:ext cx="2532197" cy="1387505"/>
          </a:xfrm>
          <a:custGeom>
            <a:avLst/>
            <a:gdLst/>
            <a:ahLst/>
            <a:cxnLst/>
            <a:rect r="r" b="b" t="t" l="l"/>
            <a:pathLst>
              <a:path h="1387505" w="2532197">
                <a:moveTo>
                  <a:pt x="0" y="0"/>
                </a:moveTo>
                <a:lnTo>
                  <a:pt x="2532197" y="0"/>
                </a:lnTo>
                <a:lnTo>
                  <a:pt x="2532197" y="1387505"/>
                </a:lnTo>
                <a:lnTo>
                  <a:pt x="0" y="1387505"/>
                </a:lnTo>
                <a:lnTo>
                  <a:pt x="0" y="0"/>
                </a:lnTo>
                <a:close/>
              </a:path>
            </a:pathLst>
          </a:custGeom>
          <a:blipFill>
            <a:blip r:embed="rId3"/>
            <a:stretch>
              <a:fillRect l="0" t="0" r="0" b="0"/>
            </a:stretch>
          </a:blipFill>
        </p:spPr>
      </p:sp>
      <p:sp>
        <p:nvSpPr>
          <p:cNvPr name="Freeform 4" id="4"/>
          <p:cNvSpPr/>
          <p:nvPr/>
        </p:nvSpPr>
        <p:spPr>
          <a:xfrm flipH="false" flipV="false" rot="0">
            <a:off x="6590990" y="8140980"/>
            <a:ext cx="2553010" cy="1387505"/>
          </a:xfrm>
          <a:custGeom>
            <a:avLst/>
            <a:gdLst/>
            <a:ahLst/>
            <a:cxnLst/>
            <a:rect r="r" b="b" t="t" l="l"/>
            <a:pathLst>
              <a:path h="1387505" w="2553010">
                <a:moveTo>
                  <a:pt x="0" y="0"/>
                </a:moveTo>
                <a:lnTo>
                  <a:pt x="2553010" y="0"/>
                </a:lnTo>
                <a:lnTo>
                  <a:pt x="2553010" y="1387505"/>
                </a:lnTo>
                <a:lnTo>
                  <a:pt x="0" y="1387505"/>
                </a:lnTo>
                <a:lnTo>
                  <a:pt x="0" y="0"/>
                </a:lnTo>
                <a:close/>
              </a:path>
            </a:pathLst>
          </a:custGeom>
          <a:blipFill>
            <a:blip r:embed="rId4"/>
            <a:stretch>
              <a:fillRect l="0" t="0" r="0" b="0"/>
            </a:stretch>
          </a:blipFill>
        </p:spPr>
      </p:sp>
      <p:sp>
        <p:nvSpPr>
          <p:cNvPr name="Freeform 5" id="5"/>
          <p:cNvSpPr/>
          <p:nvPr/>
        </p:nvSpPr>
        <p:spPr>
          <a:xfrm flipH="false" flipV="false" rot="0">
            <a:off x="9429750" y="8104136"/>
            <a:ext cx="2701010" cy="1387505"/>
          </a:xfrm>
          <a:custGeom>
            <a:avLst/>
            <a:gdLst/>
            <a:ahLst/>
            <a:cxnLst/>
            <a:rect r="r" b="b" t="t" l="l"/>
            <a:pathLst>
              <a:path h="1387505" w="2701010">
                <a:moveTo>
                  <a:pt x="0" y="0"/>
                </a:moveTo>
                <a:lnTo>
                  <a:pt x="2701010" y="0"/>
                </a:lnTo>
                <a:lnTo>
                  <a:pt x="2701010" y="1387505"/>
                </a:lnTo>
                <a:lnTo>
                  <a:pt x="0" y="1387505"/>
                </a:lnTo>
                <a:lnTo>
                  <a:pt x="0" y="0"/>
                </a:lnTo>
                <a:close/>
              </a:path>
            </a:pathLst>
          </a:custGeom>
          <a:blipFill>
            <a:blip r:embed="rId5"/>
            <a:stretch>
              <a:fillRect l="0" t="0" r="0" b="0"/>
            </a:stretch>
          </a:blipFill>
        </p:spPr>
      </p:sp>
      <p:sp>
        <p:nvSpPr>
          <p:cNvPr name="Freeform 6" id="6"/>
          <p:cNvSpPr/>
          <p:nvPr/>
        </p:nvSpPr>
        <p:spPr>
          <a:xfrm flipH="false" flipV="false" rot="0">
            <a:off x="12416510" y="8140980"/>
            <a:ext cx="2778503" cy="1350661"/>
          </a:xfrm>
          <a:custGeom>
            <a:avLst/>
            <a:gdLst/>
            <a:ahLst/>
            <a:cxnLst/>
            <a:rect r="r" b="b" t="t" l="l"/>
            <a:pathLst>
              <a:path h="1350661" w="2778503">
                <a:moveTo>
                  <a:pt x="0" y="0"/>
                </a:moveTo>
                <a:lnTo>
                  <a:pt x="2778503" y="0"/>
                </a:lnTo>
                <a:lnTo>
                  <a:pt x="2778503" y="1350661"/>
                </a:lnTo>
                <a:lnTo>
                  <a:pt x="0" y="1350661"/>
                </a:lnTo>
                <a:lnTo>
                  <a:pt x="0" y="0"/>
                </a:lnTo>
                <a:close/>
              </a:path>
            </a:pathLst>
          </a:custGeom>
          <a:blipFill>
            <a:blip r:embed="rId6"/>
            <a:stretch>
              <a:fillRect l="0" t="0" r="0" b="0"/>
            </a:stretch>
          </a:blipFill>
        </p:spPr>
      </p:sp>
      <p:sp>
        <p:nvSpPr>
          <p:cNvPr name="Freeform 7" id="7"/>
          <p:cNvSpPr/>
          <p:nvPr/>
        </p:nvSpPr>
        <p:spPr>
          <a:xfrm flipH="false" flipV="false" rot="0">
            <a:off x="3617241" y="8140980"/>
            <a:ext cx="2684913" cy="1387505"/>
          </a:xfrm>
          <a:custGeom>
            <a:avLst/>
            <a:gdLst/>
            <a:ahLst/>
            <a:cxnLst/>
            <a:rect r="r" b="b" t="t" l="l"/>
            <a:pathLst>
              <a:path h="1387505" w="2684913">
                <a:moveTo>
                  <a:pt x="0" y="0"/>
                </a:moveTo>
                <a:lnTo>
                  <a:pt x="2684913" y="0"/>
                </a:lnTo>
                <a:lnTo>
                  <a:pt x="2684913" y="1387505"/>
                </a:lnTo>
                <a:lnTo>
                  <a:pt x="0" y="1387505"/>
                </a:lnTo>
                <a:lnTo>
                  <a:pt x="0" y="0"/>
                </a:lnTo>
                <a:close/>
              </a:path>
            </a:pathLst>
          </a:custGeom>
          <a:blipFill>
            <a:blip r:embed="rId7"/>
            <a:stretch>
              <a:fillRect l="0" t="0" r="0" b="0"/>
            </a:stretch>
          </a:blipFill>
        </p:spPr>
      </p:sp>
      <p:sp>
        <p:nvSpPr>
          <p:cNvPr name="Freeform 8" id="8"/>
          <p:cNvSpPr/>
          <p:nvPr/>
        </p:nvSpPr>
        <p:spPr>
          <a:xfrm flipH="false" flipV="false" rot="0">
            <a:off x="217227" y="3156929"/>
            <a:ext cx="17673826" cy="4865046"/>
          </a:xfrm>
          <a:custGeom>
            <a:avLst/>
            <a:gdLst/>
            <a:ahLst/>
            <a:cxnLst/>
            <a:rect r="r" b="b" t="t" l="l"/>
            <a:pathLst>
              <a:path h="4865046" w="17673826">
                <a:moveTo>
                  <a:pt x="0" y="0"/>
                </a:moveTo>
                <a:lnTo>
                  <a:pt x="17673826" y="0"/>
                </a:lnTo>
                <a:lnTo>
                  <a:pt x="17673826" y="4865046"/>
                </a:lnTo>
                <a:lnTo>
                  <a:pt x="0" y="4865046"/>
                </a:lnTo>
                <a:lnTo>
                  <a:pt x="0" y="0"/>
                </a:lnTo>
                <a:close/>
              </a:path>
            </a:pathLst>
          </a:custGeom>
          <a:blipFill>
            <a:blip r:embed="rId8"/>
            <a:stretch>
              <a:fillRect l="-22" t="0" r="-29354" b="0"/>
            </a:stretch>
          </a:blipFill>
        </p:spPr>
      </p:sp>
      <p:sp>
        <p:nvSpPr>
          <p:cNvPr name="TextBox 9" id="9"/>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10" id="10"/>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October 2026</a:t>
            </a:r>
          </a:p>
        </p:txBody>
      </p:sp>
      <p:sp>
        <p:nvSpPr>
          <p:cNvPr name="TextBox 11" id="11"/>
          <p:cNvSpPr txBox="true"/>
          <p:nvPr/>
        </p:nvSpPr>
        <p:spPr>
          <a:xfrm rot="0">
            <a:off x="-2172978" y="1894694"/>
            <a:ext cx="16230600" cy="878840"/>
          </a:xfrm>
          <a:prstGeom prst="rect">
            <a:avLst/>
          </a:prstGeom>
        </p:spPr>
        <p:txBody>
          <a:bodyPr anchor="t" rtlCol="false" tIns="0" lIns="0" bIns="0" rIns="0">
            <a:spAutoFit/>
          </a:bodyPr>
          <a:lstStyle/>
          <a:p>
            <a:pPr algn="ctr">
              <a:lnSpc>
                <a:spcPts val="6579"/>
              </a:lnSpc>
            </a:pPr>
            <a:r>
              <a:rPr lang="en-US" b="true" sz="6999" spc="-293">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KEJADIAN BENCANA 2025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216499" y="4193408"/>
            <a:ext cx="10594970" cy="4657616"/>
            <a:chOff x="0" y="0"/>
            <a:chExt cx="2790445" cy="1226697"/>
          </a:xfrm>
        </p:grpSpPr>
        <p:sp>
          <p:nvSpPr>
            <p:cNvPr name="Freeform 3" id="3"/>
            <p:cNvSpPr/>
            <p:nvPr/>
          </p:nvSpPr>
          <p:spPr>
            <a:xfrm flipH="false" flipV="false" rot="0">
              <a:off x="0" y="0"/>
              <a:ext cx="2790445" cy="1226697"/>
            </a:xfrm>
            <a:custGeom>
              <a:avLst/>
              <a:gdLst/>
              <a:ahLst/>
              <a:cxnLst/>
              <a:rect r="r" b="b" t="t" l="l"/>
              <a:pathLst>
                <a:path h="1226697" w="2790445">
                  <a:moveTo>
                    <a:pt x="21921" y="0"/>
                  </a:moveTo>
                  <a:lnTo>
                    <a:pt x="2768523" y="0"/>
                  </a:lnTo>
                  <a:cubicBezTo>
                    <a:pt x="2774337" y="0"/>
                    <a:pt x="2779913" y="2310"/>
                    <a:pt x="2784024" y="6421"/>
                  </a:cubicBezTo>
                  <a:cubicBezTo>
                    <a:pt x="2788135" y="10532"/>
                    <a:pt x="2790445" y="16108"/>
                    <a:pt x="2790445" y="21921"/>
                  </a:cubicBezTo>
                  <a:lnTo>
                    <a:pt x="2790445" y="1204776"/>
                  </a:lnTo>
                  <a:cubicBezTo>
                    <a:pt x="2790445" y="1216883"/>
                    <a:pt x="2780630" y="1226697"/>
                    <a:pt x="2768523" y="1226697"/>
                  </a:cubicBezTo>
                  <a:lnTo>
                    <a:pt x="21921" y="1226697"/>
                  </a:lnTo>
                  <a:cubicBezTo>
                    <a:pt x="16108" y="1226697"/>
                    <a:pt x="10532" y="1224388"/>
                    <a:pt x="6421" y="1220277"/>
                  </a:cubicBezTo>
                  <a:cubicBezTo>
                    <a:pt x="2310" y="1216165"/>
                    <a:pt x="0" y="1210590"/>
                    <a:pt x="0" y="1204776"/>
                  </a:cubicBezTo>
                  <a:lnTo>
                    <a:pt x="0" y="21921"/>
                  </a:lnTo>
                  <a:cubicBezTo>
                    <a:pt x="0" y="16108"/>
                    <a:pt x="2310" y="10532"/>
                    <a:pt x="6421" y="6421"/>
                  </a:cubicBezTo>
                  <a:cubicBezTo>
                    <a:pt x="10532" y="2310"/>
                    <a:pt x="16108" y="0"/>
                    <a:pt x="21921" y="0"/>
                  </a:cubicBezTo>
                  <a:close/>
                </a:path>
              </a:pathLst>
            </a:custGeom>
            <a:solidFill>
              <a:srgbClr val="FFF7EF"/>
            </a:solidFill>
          </p:spPr>
        </p:sp>
        <p:sp>
          <p:nvSpPr>
            <p:cNvPr name="TextBox 4" id="4"/>
            <p:cNvSpPr txBox="true"/>
            <p:nvPr/>
          </p:nvSpPr>
          <p:spPr>
            <a:xfrm>
              <a:off x="0" y="-47625"/>
              <a:ext cx="2790445" cy="1274322"/>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405787" y="4492570"/>
            <a:ext cx="10216394" cy="4059292"/>
          </a:xfrm>
          <a:custGeom>
            <a:avLst/>
            <a:gdLst/>
            <a:ahLst/>
            <a:cxnLst/>
            <a:rect r="r" b="b" t="t" l="l"/>
            <a:pathLst>
              <a:path h="4059292" w="10216394">
                <a:moveTo>
                  <a:pt x="0" y="0"/>
                </a:moveTo>
                <a:lnTo>
                  <a:pt x="10216394" y="0"/>
                </a:lnTo>
                <a:lnTo>
                  <a:pt x="10216394" y="4059292"/>
                </a:lnTo>
                <a:lnTo>
                  <a:pt x="0" y="4059292"/>
                </a:lnTo>
                <a:lnTo>
                  <a:pt x="0" y="0"/>
                </a:lnTo>
                <a:close/>
              </a:path>
            </a:pathLst>
          </a:custGeom>
          <a:blipFill>
            <a:blip r:embed="rId2"/>
            <a:stretch>
              <a:fillRect l="-897" t="0" r="-897" b="0"/>
            </a:stretch>
          </a:blipFill>
        </p:spPr>
      </p:sp>
      <p:sp>
        <p:nvSpPr>
          <p:cNvPr name="TextBox 6" id="6"/>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7" id="7"/>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a:t>
            </a:r>
            <a:r>
              <a:rPr lang="en-US" sz="2000" spc="-88">
                <a:solidFill>
                  <a:srgbClr val="19662E"/>
                </a:solidFill>
                <a:latin typeface="Inter"/>
                <a:ea typeface="Inter"/>
                <a:cs typeface="Inter"/>
                <a:sym typeface="Inter"/>
              </a:rPr>
              <a:t>October 2026</a:t>
            </a:r>
          </a:p>
        </p:txBody>
      </p:sp>
      <p:sp>
        <p:nvSpPr>
          <p:cNvPr name="TextBox 8" id="8"/>
          <p:cNvSpPr txBox="true"/>
          <p:nvPr/>
        </p:nvSpPr>
        <p:spPr>
          <a:xfrm rot="0">
            <a:off x="-3075804" y="2152280"/>
            <a:ext cx="18734265" cy="878840"/>
          </a:xfrm>
          <a:prstGeom prst="rect">
            <a:avLst/>
          </a:prstGeom>
        </p:spPr>
        <p:txBody>
          <a:bodyPr anchor="t" rtlCol="false" tIns="0" lIns="0" bIns="0" rIns="0">
            <a:spAutoFit/>
          </a:bodyPr>
          <a:lstStyle/>
          <a:p>
            <a:pPr algn="ctr">
              <a:lnSpc>
                <a:spcPts val="6579"/>
              </a:lnSpc>
            </a:pPr>
            <a:r>
              <a:rPr lang="en-US" b="true" sz="6999" spc="-293">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PETA SEBARAN KEJADIAN</a:t>
            </a:r>
          </a:p>
        </p:txBody>
      </p:sp>
      <p:sp>
        <p:nvSpPr>
          <p:cNvPr name="TextBox 9" id="9"/>
          <p:cNvSpPr txBox="true"/>
          <p:nvPr/>
        </p:nvSpPr>
        <p:spPr>
          <a:xfrm rot="0">
            <a:off x="11322398" y="3651381"/>
            <a:ext cx="6733721" cy="5694045"/>
          </a:xfrm>
          <a:prstGeom prst="rect">
            <a:avLst/>
          </a:prstGeom>
        </p:spPr>
        <p:txBody>
          <a:bodyPr anchor="t" rtlCol="false" tIns="0" lIns="0" bIns="0" rIns="0">
            <a:spAutoFit/>
          </a:bodyPr>
          <a:lstStyle/>
          <a:p>
            <a:pPr algn="l" marL="582927" indent="-291463" lvl="1">
              <a:lnSpc>
                <a:spcPts val="3779"/>
              </a:lnSpc>
              <a:spcBef>
                <a:spcPct val="0"/>
              </a:spcBef>
              <a:buFont typeface="Arial"/>
              <a:buChar char="•"/>
            </a:pPr>
            <a:r>
              <a:rPr lang="en-US" sz="2699" spc="-118">
                <a:solidFill>
                  <a:srgbClr val="19662E"/>
                </a:solidFill>
                <a:latin typeface="Inter"/>
                <a:ea typeface="Inter"/>
                <a:cs typeface="Inter"/>
                <a:sym typeface="Inter"/>
              </a:rPr>
              <a:t>Merah makin tua berarti kejadian makin banyak; abu-abu berarti tidak ada kejadian</a:t>
            </a:r>
          </a:p>
          <a:p>
            <a:pPr algn="l" marL="582927" indent="-291463" lvl="1">
              <a:lnSpc>
                <a:spcPts val="3779"/>
              </a:lnSpc>
              <a:spcBef>
                <a:spcPct val="0"/>
              </a:spcBef>
              <a:buFont typeface="Arial"/>
              <a:buChar char="•"/>
            </a:pPr>
            <a:r>
              <a:rPr lang="en-US" sz="2699" spc="-118">
                <a:solidFill>
                  <a:srgbClr val="19662E"/>
                </a:solidFill>
                <a:latin typeface="Inter"/>
                <a:ea typeface="Inter"/>
                <a:cs typeface="Inter"/>
                <a:sym typeface="Inter"/>
              </a:rPr>
              <a:t>Pulau Jawa dan Sumatera paling banyak terdampak</a:t>
            </a:r>
          </a:p>
          <a:p>
            <a:pPr algn="l" marL="582927" indent="-291463" lvl="1">
              <a:lnSpc>
                <a:spcPts val="3779"/>
              </a:lnSpc>
              <a:spcBef>
                <a:spcPct val="0"/>
              </a:spcBef>
              <a:buFont typeface="Arial"/>
              <a:buChar char="•"/>
            </a:pPr>
            <a:r>
              <a:rPr lang="en-US" sz="2699" spc="-118">
                <a:solidFill>
                  <a:srgbClr val="19662E"/>
                </a:solidFill>
                <a:latin typeface="Inter"/>
                <a:ea typeface="Inter"/>
                <a:cs typeface="Inter"/>
                <a:sym typeface="Inter"/>
              </a:rPr>
              <a:t>Tiga provinsi dengan jumlah kejadian tertinggi:</a:t>
            </a:r>
          </a:p>
          <a:p>
            <a:pPr algn="l" marL="582927" indent="-291463" lvl="1">
              <a:lnSpc>
                <a:spcPts val="3779"/>
              </a:lnSpc>
              <a:spcBef>
                <a:spcPct val="0"/>
              </a:spcBef>
              <a:buAutoNum type="arabicPeriod" startAt="1"/>
            </a:pPr>
            <a:r>
              <a:rPr lang="en-US" sz="2699" spc="-118">
                <a:solidFill>
                  <a:srgbClr val="19662E"/>
                </a:solidFill>
                <a:latin typeface="Inter"/>
                <a:ea typeface="Inter"/>
                <a:cs typeface="Inter"/>
                <a:sym typeface="Inter"/>
              </a:rPr>
              <a:t>Jawa Barat: 493 kejadian</a:t>
            </a:r>
          </a:p>
          <a:p>
            <a:pPr algn="l" marL="582927" indent="-291463" lvl="1">
              <a:lnSpc>
                <a:spcPts val="3779"/>
              </a:lnSpc>
              <a:spcBef>
                <a:spcPct val="0"/>
              </a:spcBef>
              <a:buAutoNum type="arabicPeriod" startAt="1"/>
            </a:pPr>
            <a:r>
              <a:rPr lang="en-US" sz="2699" spc="-118">
                <a:solidFill>
                  <a:srgbClr val="19662E"/>
                </a:solidFill>
                <a:latin typeface="Inter"/>
                <a:ea typeface="Inter"/>
                <a:cs typeface="Inter"/>
                <a:sym typeface="Inter"/>
              </a:rPr>
              <a:t>Jawa Timur: 349 kejadian</a:t>
            </a:r>
          </a:p>
          <a:p>
            <a:pPr algn="l" marL="582927" indent="-291463" lvl="1">
              <a:lnSpc>
                <a:spcPts val="3779"/>
              </a:lnSpc>
              <a:spcBef>
                <a:spcPct val="0"/>
              </a:spcBef>
              <a:buAutoNum type="arabicPeriod" startAt="1"/>
            </a:pPr>
            <a:r>
              <a:rPr lang="en-US" sz="2699" spc="-118">
                <a:solidFill>
                  <a:srgbClr val="19662E"/>
                </a:solidFill>
                <a:latin typeface="Inter"/>
                <a:ea typeface="Inter"/>
                <a:cs typeface="Inter"/>
                <a:sym typeface="Inter"/>
              </a:rPr>
              <a:t>Jawa Tengah: 343 kejadian</a:t>
            </a:r>
          </a:p>
          <a:p>
            <a:pPr algn="l" marL="582927" indent="-291463" lvl="1">
              <a:lnSpc>
                <a:spcPts val="3779"/>
              </a:lnSpc>
              <a:spcBef>
                <a:spcPct val="0"/>
              </a:spcBef>
              <a:buFont typeface="Arial"/>
              <a:buChar char="•"/>
            </a:pPr>
            <a:r>
              <a:rPr lang="en-US" sz="2699" spc="-118">
                <a:solidFill>
                  <a:srgbClr val="19662E"/>
                </a:solidFill>
                <a:latin typeface="Inter"/>
                <a:ea typeface="Inter"/>
                <a:cs typeface="Inter"/>
                <a:sym typeface="Inter"/>
              </a:rPr>
              <a:t>Peta dapat dieksplorasi dengan mengarahkan kursor ke wilayah untuk melihat rincian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5086350" y="3422862"/>
            <a:ext cx="8115300" cy="4786531"/>
            <a:chOff x="0" y="0"/>
            <a:chExt cx="2137363" cy="1260650"/>
          </a:xfrm>
        </p:grpSpPr>
        <p:sp>
          <p:nvSpPr>
            <p:cNvPr name="Freeform 3" id="3"/>
            <p:cNvSpPr/>
            <p:nvPr/>
          </p:nvSpPr>
          <p:spPr>
            <a:xfrm flipH="false" flipV="false" rot="0">
              <a:off x="0" y="0"/>
              <a:ext cx="2137363" cy="1260650"/>
            </a:xfrm>
            <a:custGeom>
              <a:avLst/>
              <a:gdLst/>
              <a:ahLst/>
              <a:cxnLst/>
              <a:rect r="r" b="b" t="t" l="l"/>
              <a:pathLst>
                <a:path h="1260650" w="2137363">
                  <a:moveTo>
                    <a:pt x="28620" y="0"/>
                  </a:moveTo>
                  <a:lnTo>
                    <a:pt x="2108743" y="0"/>
                  </a:lnTo>
                  <a:cubicBezTo>
                    <a:pt x="2116334" y="0"/>
                    <a:pt x="2123613" y="3015"/>
                    <a:pt x="2128981" y="8383"/>
                  </a:cubicBezTo>
                  <a:cubicBezTo>
                    <a:pt x="2134348" y="13750"/>
                    <a:pt x="2137363" y="21029"/>
                    <a:pt x="2137363" y="28620"/>
                  </a:cubicBezTo>
                  <a:lnTo>
                    <a:pt x="2137363" y="1232030"/>
                  </a:lnTo>
                  <a:cubicBezTo>
                    <a:pt x="2137363" y="1247837"/>
                    <a:pt x="2124549" y="1260650"/>
                    <a:pt x="2108743" y="1260650"/>
                  </a:cubicBezTo>
                  <a:lnTo>
                    <a:pt x="28620" y="1260650"/>
                  </a:lnTo>
                  <a:cubicBezTo>
                    <a:pt x="12813" y="1260650"/>
                    <a:pt x="0" y="1247837"/>
                    <a:pt x="0" y="1232030"/>
                  </a:cubicBezTo>
                  <a:lnTo>
                    <a:pt x="0" y="28620"/>
                  </a:lnTo>
                  <a:cubicBezTo>
                    <a:pt x="0" y="12813"/>
                    <a:pt x="12813" y="0"/>
                    <a:pt x="28620" y="0"/>
                  </a:cubicBezTo>
                  <a:close/>
                </a:path>
              </a:pathLst>
            </a:custGeom>
            <a:solidFill>
              <a:srgbClr val="FFF7EF"/>
            </a:solidFill>
          </p:spPr>
        </p:sp>
        <p:sp>
          <p:nvSpPr>
            <p:cNvPr name="TextBox 4" id="4"/>
            <p:cNvSpPr txBox="true"/>
            <p:nvPr/>
          </p:nvSpPr>
          <p:spPr>
            <a:xfrm>
              <a:off x="0" y="-47625"/>
              <a:ext cx="2137363" cy="1308275"/>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5393243" y="3628186"/>
            <a:ext cx="7501514" cy="4375883"/>
          </a:xfrm>
          <a:custGeom>
            <a:avLst/>
            <a:gdLst/>
            <a:ahLst/>
            <a:cxnLst/>
            <a:rect r="r" b="b" t="t" l="l"/>
            <a:pathLst>
              <a:path h="4375883" w="7501514">
                <a:moveTo>
                  <a:pt x="0" y="0"/>
                </a:moveTo>
                <a:lnTo>
                  <a:pt x="7501514" y="0"/>
                </a:lnTo>
                <a:lnTo>
                  <a:pt x="7501514" y="4375883"/>
                </a:lnTo>
                <a:lnTo>
                  <a:pt x="0" y="4375883"/>
                </a:lnTo>
                <a:lnTo>
                  <a:pt x="0" y="0"/>
                </a:lnTo>
                <a:close/>
              </a:path>
            </a:pathLst>
          </a:custGeom>
          <a:blipFill>
            <a:blip r:embed="rId2"/>
            <a:stretch>
              <a:fillRect l="0" t="0" r="0" b="0"/>
            </a:stretch>
          </a:blipFill>
        </p:spPr>
      </p:sp>
      <p:sp>
        <p:nvSpPr>
          <p:cNvPr name="TextBox 6" id="6"/>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7" id="7"/>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a:t>
            </a:r>
            <a:r>
              <a:rPr lang="en-US" sz="2000" spc="-88">
                <a:solidFill>
                  <a:srgbClr val="19662E"/>
                </a:solidFill>
                <a:latin typeface="Inter"/>
                <a:ea typeface="Inter"/>
                <a:cs typeface="Inter"/>
                <a:sym typeface="Inter"/>
              </a:rPr>
              <a:t>October 2026</a:t>
            </a:r>
          </a:p>
        </p:txBody>
      </p:sp>
      <p:sp>
        <p:nvSpPr>
          <p:cNvPr name="TextBox 8" id="8"/>
          <p:cNvSpPr txBox="true"/>
          <p:nvPr/>
        </p:nvSpPr>
        <p:spPr>
          <a:xfrm rot="0">
            <a:off x="1028700" y="2029672"/>
            <a:ext cx="13800442" cy="878840"/>
          </a:xfrm>
          <a:prstGeom prst="rect">
            <a:avLst/>
          </a:prstGeom>
        </p:spPr>
        <p:txBody>
          <a:bodyPr anchor="t" rtlCol="false" tIns="0" lIns="0" bIns="0" rIns="0">
            <a:spAutoFit/>
          </a:bodyPr>
          <a:lstStyle/>
          <a:p>
            <a:pPr algn="l">
              <a:lnSpc>
                <a:spcPts val="6579"/>
              </a:lnSpc>
            </a:pPr>
            <a:r>
              <a:rPr lang="en-US" b="true" sz="6999" spc="-293">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TREN BULANAN 2025</a:t>
            </a:r>
          </a:p>
        </p:txBody>
      </p:sp>
      <p:sp>
        <p:nvSpPr>
          <p:cNvPr name="TextBox 9" id="9"/>
          <p:cNvSpPr txBox="true"/>
          <p:nvPr/>
        </p:nvSpPr>
        <p:spPr>
          <a:xfrm rot="0">
            <a:off x="1028700" y="8666593"/>
            <a:ext cx="16590054" cy="1047750"/>
          </a:xfrm>
          <a:prstGeom prst="rect">
            <a:avLst/>
          </a:prstGeom>
        </p:spPr>
        <p:txBody>
          <a:bodyPr anchor="t" rtlCol="false" tIns="0" lIns="0" bIns="0" rIns="0">
            <a:spAutoFit/>
          </a:bodyPr>
          <a:lstStyle/>
          <a:p>
            <a:pPr algn="ctr">
              <a:lnSpc>
                <a:spcPts val="4200"/>
              </a:lnSpc>
              <a:spcBef>
                <a:spcPct val="0"/>
              </a:spcBef>
            </a:pPr>
            <a:r>
              <a:rPr lang="en-US" sz="3000" spc="-131">
                <a:solidFill>
                  <a:srgbClr val="19662E"/>
                </a:solidFill>
                <a:latin typeface="Inter"/>
                <a:ea typeface="Inter"/>
                <a:cs typeface="Inter"/>
                <a:sym typeface="Inter"/>
              </a:rPr>
              <a:t>Jumlah kejadian bencana mengalami fluktuasi sepanjang tahun 2025. Puncak kejadian terjadi pada Januari sebanyak 471 kejadian, sedangkan jumlah terendah tercatat pada April sebanyak 164 kejadian.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1449808" y="3422862"/>
            <a:ext cx="8115300" cy="4786531"/>
            <a:chOff x="0" y="0"/>
            <a:chExt cx="2137363" cy="1260650"/>
          </a:xfrm>
        </p:grpSpPr>
        <p:sp>
          <p:nvSpPr>
            <p:cNvPr name="Freeform 3" id="3"/>
            <p:cNvSpPr/>
            <p:nvPr/>
          </p:nvSpPr>
          <p:spPr>
            <a:xfrm flipH="false" flipV="false" rot="0">
              <a:off x="0" y="0"/>
              <a:ext cx="2137363" cy="1260650"/>
            </a:xfrm>
            <a:custGeom>
              <a:avLst/>
              <a:gdLst/>
              <a:ahLst/>
              <a:cxnLst/>
              <a:rect r="r" b="b" t="t" l="l"/>
              <a:pathLst>
                <a:path h="1260650" w="2137363">
                  <a:moveTo>
                    <a:pt x="28620" y="0"/>
                  </a:moveTo>
                  <a:lnTo>
                    <a:pt x="2108743" y="0"/>
                  </a:lnTo>
                  <a:cubicBezTo>
                    <a:pt x="2116334" y="0"/>
                    <a:pt x="2123613" y="3015"/>
                    <a:pt x="2128981" y="8383"/>
                  </a:cubicBezTo>
                  <a:cubicBezTo>
                    <a:pt x="2134348" y="13750"/>
                    <a:pt x="2137363" y="21029"/>
                    <a:pt x="2137363" y="28620"/>
                  </a:cubicBezTo>
                  <a:lnTo>
                    <a:pt x="2137363" y="1232030"/>
                  </a:lnTo>
                  <a:cubicBezTo>
                    <a:pt x="2137363" y="1247837"/>
                    <a:pt x="2124549" y="1260650"/>
                    <a:pt x="2108743" y="1260650"/>
                  </a:cubicBezTo>
                  <a:lnTo>
                    <a:pt x="28620" y="1260650"/>
                  </a:lnTo>
                  <a:cubicBezTo>
                    <a:pt x="12813" y="1260650"/>
                    <a:pt x="0" y="1247837"/>
                    <a:pt x="0" y="1232030"/>
                  </a:cubicBezTo>
                  <a:lnTo>
                    <a:pt x="0" y="28620"/>
                  </a:lnTo>
                  <a:cubicBezTo>
                    <a:pt x="0" y="12813"/>
                    <a:pt x="12813" y="0"/>
                    <a:pt x="28620" y="0"/>
                  </a:cubicBezTo>
                  <a:close/>
                </a:path>
              </a:pathLst>
            </a:custGeom>
            <a:solidFill>
              <a:srgbClr val="FFF7EF"/>
            </a:solidFill>
          </p:spPr>
        </p:sp>
        <p:sp>
          <p:nvSpPr>
            <p:cNvPr name="TextBox 4" id="4"/>
            <p:cNvSpPr txBox="true"/>
            <p:nvPr/>
          </p:nvSpPr>
          <p:spPr>
            <a:xfrm>
              <a:off x="0" y="-47625"/>
              <a:ext cx="2137363" cy="1308275"/>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1870915" y="3495356"/>
            <a:ext cx="7273085" cy="4714036"/>
          </a:xfrm>
          <a:custGeom>
            <a:avLst/>
            <a:gdLst/>
            <a:ahLst/>
            <a:cxnLst/>
            <a:rect r="r" b="b" t="t" l="l"/>
            <a:pathLst>
              <a:path h="4714036" w="7273085">
                <a:moveTo>
                  <a:pt x="0" y="0"/>
                </a:moveTo>
                <a:lnTo>
                  <a:pt x="7273085" y="0"/>
                </a:lnTo>
                <a:lnTo>
                  <a:pt x="7273085" y="4714037"/>
                </a:lnTo>
                <a:lnTo>
                  <a:pt x="0" y="4714037"/>
                </a:lnTo>
                <a:lnTo>
                  <a:pt x="0" y="0"/>
                </a:lnTo>
                <a:close/>
              </a:path>
            </a:pathLst>
          </a:custGeom>
          <a:blipFill>
            <a:blip r:embed="rId2"/>
            <a:stretch>
              <a:fillRect l="0" t="0" r="0" b="0"/>
            </a:stretch>
          </a:blipFill>
        </p:spPr>
      </p:sp>
      <p:sp>
        <p:nvSpPr>
          <p:cNvPr name="TextBox 6" id="6"/>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7" id="7"/>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a:t>
            </a:r>
            <a:r>
              <a:rPr lang="en-US" sz="2000" spc="-88">
                <a:solidFill>
                  <a:srgbClr val="19662E"/>
                </a:solidFill>
                <a:latin typeface="Inter"/>
                <a:ea typeface="Inter"/>
                <a:cs typeface="Inter"/>
                <a:sym typeface="Inter"/>
              </a:rPr>
              <a:t>October 2026</a:t>
            </a:r>
          </a:p>
        </p:txBody>
      </p:sp>
      <p:sp>
        <p:nvSpPr>
          <p:cNvPr name="TextBox 8" id="8"/>
          <p:cNvSpPr txBox="true"/>
          <p:nvPr/>
        </p:nvSpPr>
        <p:spPr>
          <a:xfrm rot="0">
            <a:off x="1028700" y="2029672"/>
            <a:ext cx="13800442" cy="878840"/>
          </a:xfrm>
          <a:prstGeom prst="rect">
            <a:avLst/>
          </a:prstGeom>
        </p:spPr>
        <p:txBody>
          <a:bodyPr anchor="t" rtlCol="false" tIns="0" lIns="0" bIns="0" rIns="0">
            <a:spAutoFit/>
          </a:bodyPr>
          <a:lstStyle/>
          <a:p>
            <a:pPr algn="l">
              <a:lnSpc>
                <a:spcPts val="6579"/>
              </a:lnSpc>
            </a:pPr>
            <a:r>
              <a:rPr lang="en-US" b="true" sz="6999" spc="-293">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TREN BULANAN 2025</a:t>
            </a:r>
          </a:p>
        </p:txBody>
      </p:sp>
      <p:sp>
        <p:nvSpPr>
          <p:cNvPr name="TextBox 9" id="9"/>
          <p:cNvSpPr txBox="true"/>
          <p:nvPr/>
        </p:nvSpPr>
        <p:spPr>
          <a:xfrm rot="0">
            <a:off x="10344903" y="3699725"/>
            <a:ext cx="6914397" cy="4248150"/>
          </a:xfrm>
          <a:prstGeom prst="rect">
            <a:avLst/>
          </a:prstGeom>
        </p:spPr>
        <p:txBody>
          <a:bodyPr anchor="t" rtlCol="false" tIns="0" lIns="0" bIns="0" rIns="0">
            <a:spAutoFit/>
          </a:bodyPr>
          <a:lstStyle/>
          <a:p>
            <a:pPr algn="just" marL="647700" indent="-323850" lvl="1">
              <a:lnSpc>
                <a:spcPts val="4200"/>
              </a:lnSpc>
              <a:spcBef>
                <a:spcPct val="0"/>
              </a:spcBef>
              <a:buFont typeface="Arial"/>
              <a:buChar char="•"/>
            </a:pPr>
            <a:r>
              <a:rPr lang="en-US" sz="3000" spc="-131">
                <a:solidFill>
                  <a:srgbClr val="19662E"/>
                </a:solidFill>
                <a:latin typeface="Inter"/>
                <a:ea typeface="Inter"/>
                <a:cs typeface="Inter"/>
                <a:sym typeface="Inter"/>
              </a:rPr>
              <a:t>Dat</a:t>
            </a:r>
            <a:r>
              <a:rPr lang="en-US" sz="3000" spc="-131">
                <a:solidFill>
                  <a:srgbClr val="19662E"/>
                </a:solidFill>
                <a:latin typeface="Inter"/>
                <a:ea typeface="Inter"/>
                <a:cs typeface="Inter"/>
                <a:sym typeface="Inter"/>
              </a:rPr>
              <a:t>a Twitter hanya mencakup 35 dari 514 kabupaten/kota.</a:t>
            </a:r>
          </a:p>
          <a:p>
            <a:pPr algn="just" marL="647700" indent="-323850" lvl="1">
              <a:lnSpc>
                <a:spcPts val="4200"/>
              </a:lnSpc>
              <a:spcBef>
                <a:spcPct val="0"/>
              </a:spcBef>
              <a:buFont typeface="Arial"/>
              <a:buChar char="•"/>
            </a:pPr>
            <a:r>
              <a:rPr lang="en-US" sz="3000" spc="-131">
                <a:solidFill>
                  <a:srgbClr val="19662E"/>
                </a:solidFill>
                <a:latin typeface="Inter"/>
                <a:ea typeface="Inter"/>
                <a:cs typeface="Inter"/>
                <a:sym typeface="Inter"/>
              </a:rPr>
              <a:t>Banjir memiliki jumlah postingan Twitter terbanyak, yaitu 361 postingan.</a:t>
            </a:r>
          </a:p>
          <a:p>
            <a:pPr algn="just" marL="647700" indent="-323850" lvl="1">
              <a:lnSpc>
                <a:spcPts val="4200"/>
              </a:lnSpc>
              <a:spcBef>
                <a:spcPct val="0"/>
              </a:spcBef>
              <a:buFont typeface="Arial"/>
              <a:buChar char="•"/>
            </a:pPr>
            <a:r>
              <a:rPr lang="en-US" sz="3000" spc="-131">
                <a:solidFill>
                  <a:srgbClr val="19662E"/>
                </a:solidFill>
                <a:latin typeface="Inter"/>
                <a:ea typeface="Inter"/>
                <a:cs typeface="Inter"/>
                <a:sym typeface="Inter"/>
              </a:rPr>
              <a:t>Data tanah longsor didominasi oleh Kota Sibolga, dengan 245 dari 251 postingan berasal dari wilayah tersebut.</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7EF"/>
        </a:solidFill>
      </p:bgPr>
    </p:bg>
    <p:spTree>
      <p:nvGrpSpPr>
        <p:cNvPr id="1" name=""/>
        <p:cNvGrpSpPr/>
        <p:nvPr/>
      </p:nvGrpSpPr>
      <p:grpSpPr>
        <a:xfrm>
          <a:off x="0" y="0"/>
          <a:ext cx="0" cy="0"/>
          <a:chOff x="0" y="0"/>
          <a:chExt cx="0" cy="0"/>
        </a:xfrm>
      </p:grpSpPr>
      <p:sp>
        <p:nvSpPr>
          <p:cNvPr name="TextBox 2" id="2"/>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3" id="3"/>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a:t>
            </a:r>
            <a:r>
              <a:rPr lang="en-US" sz="2000" spc="-88">
                <a:solidFill>
                  <a:srgbClr val="19662E"/>
                </a:solidFill>
                <a:latin typeface="Inter"/>
                <a:ea typeface="Inter"/>
                <a:cs typeface="Inter"/>
                <a:sym typeface="Inter"/>
              </a:rPr>
              <a:t>October 2026</a:t>
            </a:r>
          </a:p>
        </p:txBody>
      </p:sp>
      <p:grpSp>
        <p:nvGrpSpPr>
          <p:cNvPr name="Group 4" id="4"/>
          <p:cNvGrpSpPr/>
          <p:nvPr/>
        </p:nvGrpSpPr>
        <p:grpSpPr>
          <a:xfrm rot="0">
            <a:off x="8770255" y="3672121"/>
            <a:ext cx="9517745" cy="7608028"/>
            <a:chOff x="0" y="0"/>
            <a:chExt cx="2506731" cy="2003761"/>
          </a:xfrm>
        </p:grpSpPr>
        <p:sp>
          <p:nvSpPr>
            <p:cNvPr name="Freeform 5" id="5"/>
            <p:cNvSpPr/>
            <p:nvPr/>
          </p:nvSpPr>
          <p:spPr>
            <a:xfrm flipH="false" flipV="false" rot="0">
              <a:off x="0" y="0"/>
              <a:ext cx="2506731" cy="2003761"/>
            </a:xfrm>
            <a:custGeom>
              <a:avLst/>
              <a:gdLst/>
              <a:ahLst/>
              <a:cxnLst/>
              <a:rect r="r" b="b" t="t" l="l"/>
              <a:pathLst>
                <a:path h="2003761" w="2506731">
                  <a:moveTo>
                    <a:pt x="24403" y="0"/>
                  </a:moveTo>
                  <a:lnTo>
                    <a:pt x="2482329" y="0"/>
                  </a:lnTo>
                  <a:cubicBezTo>
                    <a:pt x="2495806" y="0"/>
                    <a:pt x="2506731" y="10925"/>
                    <a:pt x="2506731" y="24403"/>
                  </a:cubicBezTo>
                  <a:lnTo>
                    <a:pt x="2506731" y="1979358"/>
                  </a:lnTo>
                  <a:cubicBezTo>
                    <a:pt x="2506731" y="1992835"/>
                    <a:pt x="2495806" y="2003761"/>
                    <a:pt x="2482329" y="2003761"/>
                  </a:cubicBezTo>
                  <a:lnTo>
                    <a:pt x="24403" y="2003761"/>
                  </a:lnTo>
                  <a:cubicBezTo>
                    <a:pt x="17931" y="2003761"/>
                    <a:pt x="11724" y="2001190"/>
                    <a:pt x="7147" y="1996613"/>
                  </a:cubicBezTo>
                  <a:cubicBezTo>
                    <a:pt x="2571" y="1992037"/>
                    <a:pt x="0" y="1985830"/>
                    <a:pt x="0" y="1979358"/>
                  </a:cubicBezTo>
                  <a:lnTo>
                    <a:pt x="0" y="24403"/>
                  </a:lnTo>
                  <a:cubicBezTo>
                    <a:pt x="0" y="10925"/>
                    <a:pt x="10925" y="0"/>
                    <a:pt x="24403" y="0"/>
                  </a:cubicBezTo>
                  <a:close/>
                </a:path>
              </a:pathLst>
            </a:custGeom>
            <a:solidFill>
              <a:srgbClr val="FFF7EF"/>
            </a:solidFill>
          </p:spPr>
        </p:sp>
        <p:sp>
          <p:nvSpPr>
            <p:cNvPr name="TextBox 6" id="6"/>
            <p:cNvSpPr txBox="true"/>
            <p:nvPr/>
          </p:nvSpPr>
          <p:spPr>
            <a:xfrm>
              <a:off x="0" y="-47625"/>
              <a:ext cx="2506731" cy="2051386"/>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1028700" y="2070537"/>
            <a:ext cx="11286112" cy="878840"/>
          </a:xfrm>
          <a:prstGeom prst="rect">
            <a:avLst/>
          </a:prstGeom>
        </p:spPr>
        <p:txBody>
          <a:bodyPr anchor="t" rtlCol="false" tIns="0" lIns="0" bIns="0" rIns="0">
            <a:spAutoFit/>
          </a:bodyPr>
          <a:lstStyle/>
          <a:p>
            <a:pPr algn="l">
              <a:lnSpc>
                <a:spcPts val="6579"/>
              </a:lnSpc>
            </a:pPr>
            <a:r>
              <a:rPr lang="en-US" b="true" sz="6999" spc="-293">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KESIMPULAN DAN SARAN</a:t>
            </a:r>
          </a:p>
        </p:txBody>
      </p:sp>
      <p:sp>
        <p:nvSpPr>
          <p:cNvPr name="TextBox 8" id="8"/>
          <p:cNvSpPr txBox="true"/>
          <p:nvPr/>
        </p:nvSpPr>
        <p:spPr>
          <a:xfrm rot="0">
            <a:off x="9319408" y="4232941"/>
            <a:ext cx="8419438" cy="5232400"/>
          </a:xfrm>
          <a:prstGeom prst="rect">
            <a:avLst/>
          </a:prstGeom>
        </p:spPr>
        <p:txBody>
          <a:bodyPr anchor="t" rtlCol="false" tIns="0" lIns="0" bIns="0" rIns="0">
            <a:spAutoFit/>
          </a:bodyPr>
          <a:lstStyle/>
          <a:p>
            <a:pPr algn="just">
              <a:lnSpc>
                <a:spcPts val="3499"/>
              </a:lnSpc>
            </a:pPr>
            <a:r>
              <a:rPr lang="en-US" sz="2499" b="true">
                <a:solidFill>
                  <a:srgbClr val="19662E"/>
                </a:solidFill>
                <a:latin typeface="Inter Bold"/>
                <a:ea typeface="Inter Bold"/>
                <a:cs typeface="Inter Bold"/>
                <a:sym typeface="Inter Bold"/>
              </a:rPr>
              <a:t>Kete</a:t>
            </a:r>
            <a:r>
              <a:rPr lang="en-US" b="true" sz="2499">
                <a:solidFill>
                  <a:srgbClr val="19662E"/>
                </a:solidFill>
                <a:latin typeface="Inter Bold"/>
                <a:ea typeface="Inter Bold"/>
                <a:cs typeface="Inter Bold"/>
                <a:sym typeface="Inter Bold"/>
              </a:rPr>
              <a:t>rbatasan</a:t>
            </a:r>
          </a:p>
          <a:p>
            <a:pPr algn="just" marL="539748" indent="-269874" lvl="1">
              <a:lnSpc>
                <a:spcPts val="3499"/>
              </a:lnSpc>
              <a:buFont typeface="Arial"/>
              <a:buChar char="•"/>
            </a:pPr>
            <a:r>
              <a:rPr lang="en-US" sz="2499">
                <a:solidFill>
                  <a:srgbClr val="19662E"/>
                </a:solidFill>
                <a:latin typeface="Inter"/>
                <a:ea typeface="Inter"/>
                <a:cs typeface="Inter"/>
                <a:sym typeface="Inter"/>
              </a:rPr>
              <a:t>Data postingan Twitter hanya tersedia di sebagian kecil wilayah, sehingga cakupan perbandingan dengan data BNPB belum merata.</a:t>
            </a:r>
          </a:p>
          <a:p>
            <a:pPr algn="just">
              <a:lnSpc>
                <a:spcPts val="3499"/>
              </a:lnSpc>
            </a:pPr>
            <a:r>
              <a:rPr lang="en-US" b="true" sz="2499">
                <a:solidFill>
                  <a:srgbClr val="19662E"/>
                </a:solidFill>
                <a:latin typeface="Inter Bold"/>
                <a:ea typeface="Inter Bold"/>
                <a:cs typeface="Inter Bold"/>
                <a:sym typeface="Inter Bold"/>
              </a:rPr>
              <a:t>Pengembangan</a:t>
            </a:r>
          </a:p>
          <a:p>
            <a:pPr algn="just" marL="539748" indent="-269874" lvl="1">
              <a:lnSpc>
                <a:spcPts val="3499"/>
              </a:lnSpc>
              <a:buFont typeface="Arial"/>
              <a:buChar char="•"/>
            </a:pPr>
            <a:r>
              <a:rPr lang="en-US" sz="2499">
                <a:solidFill>
                  <a:srgbClr val="19662E"/>
                </a:solidFill>
                <a:latin typeface="Inter"/>
                <a:ea typeface="Inter"/>
                <a:cs typeface="Inter"/>
                <a:sym typeface="Inter"/>
              </a:rPr>
              <a:t>Menambahkan sumber data dari platform media sosial lain untuk memperluas cakupan informasi dan percakapan publik mengenai bencana.</a:t>
            </a:r>
          </a:p>
          <a:p>
            <a:pPr algn="just" marL="539748" indent="-269874" lvl="1">
              <a:lnSpc>
                <a:spcPts val="3499"/>
              </a:lnSpc>
              <a:buFont typeface="Arial"/>
              <a:buChar char="•"/>
            </a:pPr>
            <a:r>
              <a:rPr lang="en-US" sz="2499">
                <a:solidFill>
                  <a:srgbClr val="19662E"/>
                </a:solidFill>
                <a:latin typeface="Inter"/>
                <a:ea typeface="Inter"/>
                <a:cs typeface="Inter"/>
                <a:sym typeface="Inter"/>
              </a:rPr>
              <a:t>Mengembangkan analisis spasial untuk mengidentifikasi wilayah dengan jumlah kejadian bencana yang tinggi.</a:t>
            </a:r>
          </a:p>
          <a:p>
            <a:pPr algn="just">
              <a:lnSpc>
                <a:spcPts val="3499"/>
              </a:lnSpc>
            </a:pPr>
          </a:p>
        </p:txBody>
      </p:sp>
      <p:sp>
        <p:nvSpPr>
          <p:cNvPr name="TextBox 9" id="9"/>
          <p:cNvSpPr txBox="true"/>
          <p:nvPr/>
        </p:nvSpPr>
        <p:spPr>
          <a:xfrm rot="0">
            <a:off x="766103" y="4232941"/>
            <a:ext cx="7282585" cy="4794250"/>
          </a:xfrm>
          <a:prstGeom prst="rect">
            <a:avLst/>
          </a:prstGeom>
        </p:spPr>
        <p:txBody>
          <a:bodyPr anchor="t" rtlCol="false" tIns="0" lIns="0" bIns="0" rIns="0">
            <a:spAutoFit/>
          </a:bodyPr>
          <a:lstStyle/>
          <a:p>
            <a:pPr algn="just">
              <a:lnSpc>
                <a:spcPts val="3499"/>
              </a:lnSpc>
              <a:spcBef>
                <a:spcPct val="0"/>
              </a:spcBef>
            </a:pPr>
            <a:r>
              <a:rPr lang="en-US" sz="2499" spc="-109">
                <a:solidFill>
                  <a:srgbClr val="19662E"/>
                </a:solidFill>
                <a:latin typeface="Inter"/>
                <a:ea typeface="Inter"/>
                <a:cs typeface="Inter"/>
                <a:sym typeface="Inter"/>
              </a:rPr>
              <a:t>Sepanjang 2025 tercatat 3.444 kejadian bencana, dengan banjir sebagai yang paling dominan (1.702 kejadian). Kejadian memuncak pada bulan Januari, dan Jawa Barat menjadi provinsi yang paling sering terdampak. Daerah yang paling sering terkena bencana ternyata berbeda dengan daerah yang korban jiwanya terbanyak, sehingga jumlah kejadian dan tingkat keparahan perlu dilihat bersama. DuckDB berhasil dipakai sebagai tahap pengolahan data sebelum ditampilkan pada dashboard.</a:t>
            </a:r>
          </a:p>
          <a:p>
            <a:pPr algn="just">
              <a:lnSpc>
                <a:spcPts val="349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F7EF"/>
        </a:solidFill>
      </p:bgPr>
    </p:bg>
    <p:spTree>
      <p:nvGrpSpPr>
        <p:cNvPr id="1" name=""/>
        <p:cNvGrpSpPr/>
        <p:nvPr/>
      </p:nvGrpSpPr>
      <p:grpSpPr>
        <a:xfrm>
          <a:off x="0" y="0"/>
          <a:ext cx="0" cy="0"/>
          <a:chOff x="0" y="0"/>
          <a:chExt cx="0" cy="0"/>
        </a:xfrm>
      </p:grpSpPr>
      <p:sp>
        <p:nvSpPr>
          <p:cNvPr name="TextBox 2" id="2"/>
          <p:cNvSpPr txBox="true"/>
          <p:nvPr/>
        </p:nvSpPr>
        <p:spPr>
          <a:xfrm rot="0">
            <a:off x="4266172" y="3219450"/>
            <a:ext cx="10992306" cy="1924050"/>
          </a:xfrm>
          <a:prstGeom prst="rect">
            <a:avLst/>
          </a:prstGeom>
        </p:spPr>
        <p:txBody>
          <a:bodyPr anchor="t" rtlCol="false" tIns="0" lIns="0" bIns="0" rIns="0">
            <a:spAutoFit/>
          </a:bodyPr>
          <a:lstStyle/>
          <a:p>
            <a:pPr algn="ctr">
              <a:lnSpc>
                <a:spcPts val="14100"/>
              </a:lnSpc>
            </a:pPr>
            <a:r>
              <a:rPr lang="en-US" b="true" sz="15000" spc="-630">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THANK</a:t>
            </a:r>
          </a:p>
        </p:txBody>
      </p:sp>
      <p:sp>
        <p:nvSpPr>
          <p:cNvPr name="TextBox 3" id="3"/>
          <p:cNvSpPr txBox="true"/>
          <p:nvPr/>
        </p:nvSpPr>
        <p:spPr>
          <a:xfrm rot="0">
            <a:off x="4575353" y="5327679"/>
            <a:ext cx="10373945" cy="1924050"/>
          </a:xfrm>
          <a:prstGeom prst="rect">
            <a:avLst/>
          </a:prstGeom>
        </p:spPr>
        <p:txBody>
          <a:bodyPr anchor="t" rtlCol="false" tIns="0" lIns="0" bIns="0" rIns="0">
            <a:spAutoFit/>
          </a:bodyPr>
          <a:lstStyle/>
          <a:p>
            <a:pPr algn="ctr">
              <a:lnSpc>
                <a:spcPts val="14100"/>
              </a:lnSpc>
            </a:pPr>
            <a:r>
              <a:rPr lang="en-US" b="true" sz="15000" spc="-630">
                <a:gradFill>
                  <a:gsLst>
                    <a:gs pos="0">
                      <a:srgbClr val="19662E">
                        <a:alpha val="100000"/>
                      </a:srgbClr>
                    </a:gs>
                    <a:gs pos="50000">
                      <a:srgbClr val="19662E">
                        <a:alpha val="100000"/>
                      </a:srgbClr>
                    </a:gs>
                    <a:gs pos="100000">
                      <a:srgbClr val="19662E">
                        <a:alpha val="0"/>
                      </a:srgbClr>
                    </a:gs>
                  </a:gsLst>
                  <a:lin ang="0"/>
                </a:gradFill>
                <a:latin typeface="Livvic Bold"/>
                <a:ea typeface="Livvic Bold"/>
                <a:cs typeface="Livvic Bold"/>
                <a:sym typeface="Livvic Bold"/>
              </a:rPr>
              <a:t>YOU</a:t>
            </a:r>
          </a:p>
        </p:txBody>
      </p:sp>
      <p:sp>
        <p:nvSpPr>
          <p:cNvPr name="TextBox 4" id="4"/>
          <p:cNvSpPr txBox="true"/>
          <p:nvPr/>
        </p:nvSpPr>
        <p:spPr>
          <a:xfrm rot="0">
            <a:off x="1028700" y="981075"/>
            <a:ext cx="3608461" cy="349250"/>
          </a:xfrm>
          <a:prstGeom prst="rect">
            <a:avLst/>
          </a:prstGeom>
        </p:spPr>
        <p:txBody>
          <a:bodyPr anchor="t" rtlCol="false" tIns="0" lIns="0" bIns="0" rIns="0">
            <a:spAutoFit/>
          </a:bodyPr>
          <a:lstStyle/>
          <a:p>
            <a:pPr algn="l">
              <a:lnSpc>
                <a:spcPts val="2800"/>
              </a:lnSpc>
            </a:pPr>
            <a:r>
              <a:rPr lang="en-US" sz="2000" spc="-88">
                <a:solidFill>
                  <a:srgbClr val="19662E"/>
                </a:solidFill>
                <a:latin typeface="Inter"/>
                <a:ea typeface="Inter"/>
                <a:cs typeface="Inter"/>
                <a:sym typeface="Inter"/>
              </a:rPr>
              <a:t>DATA MINING II</a:t>
            </a:r>
          </a:p>
        </p:txBody>
      </p:sp>
      <p:sp>
        <p:nvSpPr>
          <p:cNvPr name="TextBox 5" id="5"/>
          <p:cNvSpPr txBox="true"/>
          <p:nvPr/>
        </p:nvSpPr>
        <p:spPr>
          <a:xfrm rot="0">
            <a:off x="14057622" y="981075"/>
            <a:ext cx="3201678" cy="349250"/>
          </a:xfrm>
          <a:prstGeom prst="rect">
            <a:avLst/>
          </a:prstGeom>
        </p:spPr>
        <p:txBody>
          <a:bodyPr anchor="t" rtlCol="false" tIns="0" lIns="0" bIns="0" rIns="0">
            <a:spAutoFit/>
          </a:bodyPr>
          <a:lstStyle/>
          <a:p>
            <a:pPr algn="r">
              <a:lnSpc>
                <a:spcPts val="2800"/>
              </a:lnSpc>
            </a:pPr>
            <a:r>
              <a:rPr lang="en-US" sz="2000" spc="-88">
                <a:solidFill>
                  <a:srgbClr val="19662E"/>
                </a:solidFill>
                <a:latin typeface="Inter"/>
                <a:ea typeface="Inter"/>
                <a:cs typeface="Inter"/>
                <a:sym typeface="Inter"/>
              </a:rPr>
              <a:t>21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DAHYiDjR9x8</dc:identifier>
  <dcterms:modified xsi:type="dcterms:W3CDTF">2011-08-01T06:04:30Z</dcterms:modified>
  <cp:revision>1</cp:revision>
  <dc:title>Beige and Green Modern Company Research Proposal Presentation</dc:title>
</cp:coreProperties>
</file>